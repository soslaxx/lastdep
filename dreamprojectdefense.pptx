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4"/>
  </p:notesMasterIdLst>
  <p:sldIdLst>
    <p:sldId id="256" r:id="rId2"/>
    <p:sldId id="259" r:id="rId3"/>
    <p:sldId id="257" r:id="rId4"/>
    <p:sldId id="258" r:id="rId5"/>
    <p:sldId id="261" r:id="rId6"/>
    <p:sldId id="287" r:id="rId7"/>
    <p:sldId id="265" r:id="rId8"/>
    <p:sldId id="271" r:id="rId9"/>
    <p:sldId id="275" r:id="rId10"/>
    <p:sldId id="268" r:id="rId11"/>
    <p:sldId id="267" r:id="rId12"/>
    <p:sldId id="284" r:id="rId13"/>
  </p:sldIdLst>
  <p:sldSz cx="9144000" cy="5143500" type="screen16x9"/>
  <p:notesSz cx="6858000" cy="9144000"/>
  <p:embeddedFontLst>
    <p:embeddedFont>
      <p:font typeface="Archivo Black" panose="020B0604020202020204" charset="0"/>
      <p:regular r:id="rId15"/>
    </p:embeddedFont>
    <p:embeddedFont>
      <p:font typeface="Impact" panose="020B0806030902050204" pitchFamily="34" charset="0"/>
      <p:regular r:id="rId16"/>
    </p:embeddedFont>
    <p:embeddedFont>
      <p:font typeface="Roboto Condensed Light" panose="02000000000000000000" pitchFamily="2" charset="0"/>
      <p:regular r:id="rId17"/>
      <p:italic r:id="rId18"/>
    </p:embeddedFont>
    <p:embeddedFont>
      <p:font typeface="Source Sans Pro" panose="020B0503030403020204" pitchFamily="3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AC0CA4-7DBC-4305-BAB6-09C322BCAD99}">
  <a:tblStyle styleId="{04AC0CA4-7DBC-4305-BAB6-09C322BCAD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d401eec822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d401eec822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d401eec82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d401eec82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d90507ccfd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d90507ccfd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db1374eb09_3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db1374eb09_3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7">
          <a:extLst>
            <a:ext uri="{FF2B5EF4-FFF2-40B4-BE49-F238E27FC236}">
              <a16:creationId xmlns:a16="http://schemas.microsoft.com/office/drawing/2014/main" id="{112512C5-3841-302A-599E-8A24F8C0D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d401eec822_0_213:notes">
            <a:extLst>
              <a:ext uri="{FF2B5EF4-FFF2-40B4-BE49-F238E27FC236}">
                <a16:creationId xmlns:a16="http://schemas.microsoft.com/office/drawing/2014/main" id="{F3F5079E-082D-3878-2FEB-C468A005DA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d401eec822_0_213:notes">
            <a:extLst>
              <a:ext uri="{FF2B5EF4-FFF2-40B4-BE49-F238E27FC236}">
                <a16:creationId xmlns:a16="http://schemas.microsoft.com/office/drawing/2014/main" id="{15571122-F19A-0832-C002-F6819C7E8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2131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d401eec822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d401eec822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d401eec822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d401eec822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d401eec822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d401eec822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d401eec822_0_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d401eec822_0_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d401eec82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d401eec822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d401eec822_0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d401eec822_0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0" y="843625"/>
            <a:ext cx="9144000" cy="164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 b="1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477050" y="4320994"/>
            <a:ext cx="6189900" cy="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DCB3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12" name="Google Shape;12;p2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2440100" y="394300"/>
            <a:ext cx="5988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28" name="Google Shape;28;p4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subTitle" idx="1"/>
          </p:nvPr>
        </p:nvSpPr>
        <p:spPr>
          <a:xfrm>
            <a:off x="1227875" y="2018313"/>
            <a:ext cx="3189000" cy="20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13042D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1227875" y="1445613"/>
            <a:ext cx="3189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>
                <a:solidFill>
                  <a:srgbClr val="13042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54" name="Google Shape;54;p7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7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7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l="7827" t="15569" r="7819" b="5234"/>
          <a:stretch/>
        </p:blipFill>
        <p:spPr>
          <a:xfrm>
            <a:off x="715450" y="534976"/>
            <a:ext cx="7713101" cy="407354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60" name="Google Shape;60;p8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61" name="Google Shape;61;p8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4520974" y="1344698"/>
            <a:ext cx="2258100" cy="17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97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1639200" y="3082475"/>
            <a:ext cx="5865600" cy="6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70" name="Google Shape;70;p9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9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9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888725" y="1076300"/>
            <a:ext cx="14397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"/>
          </p:nvPr>
        </p:nvSpPr>
        <p:spPr>
          <a:xfrm>
            <a:off x="885125" y="1737742"/>
            <a:ext cx="1849800" cy="7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2"/>
          </p:nvPr>
        </p:nvSpPr>
        <p:spPr>
          <a:xfrm>
            <a:off x="3100404" y="1076300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3"/>
          </p:nvPr>
        </p:nvSpPr>
        <p:spPr>
          <a:xfrm>
            <a:off x="3100427" y="1737729"/>
            <a:ext cx="18498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4"/>
          </p:nvPr>
        </p:nvSpPr>
        <p:spPr>
          <a:xfrm>
            <a:off x="5308503" y="1076300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5"/>
          </p:nvPr>
        </p:nvSpPr>
        <p:spPr>
          <a:xfrm>
            <a:off x="5308527" y="1737667"/>
            <a:ext cx="18498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 idx="6"/>
          </p:nvPr>
        </p:nvSpPr>
        <p:spPr>
          <a:xfrm>
            <a:off x="888725" y="3267375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7"/>
          </p:nvPr>
        </p:nvSpPr>
        <p:spPr>
          <a:xfrm>
            <a:off x="888725" y="3928943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8"/>
          </p:nvPr>
        </p:nvSpPr>
        <p:spPr>
          <a:xfrm>
            <a:off x="3100425" y="3267375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9"/>
          </p:nvPr>
        </p:nvSpPr>
        <p:spPr>
          <a:xfrm>
            <a:off x="3100425" y="3928931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13"/>
          </p:nvPr>
        </p:nvSpPr>
        <p:spPr>
          <a:xfrm>
            <a:off x="5308525" y="3267375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subTitle" idx="14"/>
          </p:nvPr>
        </p:nvSpPr>
        <p:spPr>
          <a:xfrm>
            <a:off x="5308525" y="3928875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15"/>
          </p:nvPr>
        </p:nvSpPr>
        <p:spPr>
          <a:xfrm rot="5400000">
            <a:off x="5883025" y="2309025"/>
            <a:ext cx="4078200" cy="5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4" name="Google Shape;104;p13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105" name="Google Shape;105;p13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13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13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3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3496200" y="2285475"/>
            <a:ext cx="215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133" name="Google Shape;133;p17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7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>
            <a:spLocks noGrp="1"/>
          </p:cNvSpPr>
          <p:nvPr>
            <p:ph type="title"/>
          </p:nvPr>
        </p:nvSpPr>
        <p:spPr>
          <a:xfrm>
            <a:off x="1443125" y="3392700"/>
            <a:ext cx="62577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47" name="Google Shape;147;p19"/>
          <p:cNvSpPr txBox="1">
            <a:spLocks noGrp="1"/>
          </p:cNvSpPr>
          <p:nvPr>
            <p:ph type="subTitle" idx="1"/>
          </p:nvPr>
        </p:nvSpPr>
        <p:spPr>
          <a:xfrm>
            <a:off x="1443125" y="1188100"/>
            <a:ext cx="6257700" cy="174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grpSp>
        <p:nvGrpSpPr>
          <p:cNvPr id="148" name="Google Shape;148;p19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149" name="Google Shape;149;p19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9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9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720000" y="3161570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ubTitle" idx="1"/>
          </p:nvPr>
        </p:nvSpPr>
        <p:spPr>
          <a:xfrm>
            <a:off x="720000" y="3675060"/>
            <a:ext cx="2336400" cy="9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0"/>
          <p:cNvSpPr txBox="1">
            <a:spLocks noGrp="1"/>
          </p:cNvSpPr>
          <p:nvPr>
            <p:ph type="title" idx="2"/>
          </p:nvPr>
        </p:nvSpPr>
        <p:spPr>
          <a:xfrm>
            <a:off x="3403800" y="3161570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7" name="Google Shape;157;p20"/>
          <p:cNvSpPr txBox="1">
            <a:spLocks noGrp="1"/>
          </p:cNvSpPr>
          <p:nvPr>
            <p:ph type="subTitle" idx="3"/>
          </p:nvPr>
        </p:nvSpPr>
        <p:spPr>
          <a:xfrm>
            <a:off x="3403800" y="3675060"/>
            <a:ext cx="2336400" cy="9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0"/>
          <p:cNvSpPr txBox="1">
            <a:spLocks noGrp="1"/>
          </p:cNvSpPr>
          <p:nvPr>
            <p:ph type="title" idx="4"/>
          </p:nvPr>
        </p:nvSpPr>
        <p:spPr>
          <a:xfrm>
            <a:off x="6087600" y="3161570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59" name="Google Shape;159;p20"/>
          <p:cNvSpPr txBox="1">
            <a:spLocks noGrp="1"/>
          </p:cNvSpPr>
          <p:nvPr>
            <p:ph type="subTitle" idx="5"/>
          </p:nvPr>
        </p:nvSpPr>
        <p:spPr>
          <a:xfrm>
            <a:off x="6087600" y="3675060"/>
            <a:ext cx="2336400" cy="9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0"/>
          <p:cNvSpPr txBox="1">
            <a:spLocks noGrp="1"/>
          </p:cNvSpPr>
          <p:nvPr>
            <p:ph type="title" idx="6"/>
          </p:nvPr>
        </p:nvSpPr>
        <p:spPr>
          <a:xfrm>
            <a:off x="4422822" y="394350"/>
            <a:ext cx="4005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61" name="Google Shape;161;p20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162" name="Google Shape;162;p20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0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0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0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">
  <p:cSld name="BLANK_1_1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>
            <a:spLocks noGrp="1"/>
          </p:cNvSpPr>
          <p:nvPr>
            <p:ph type="title"/>
          </p:nvPr>
        </p:nvSpPr>
        <p:spPr>
          <a:xfrm>
            <a:off x="1472550" y="1051054"/>
            <a:ext cx="3883200" cy="38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1"/>
          </p:nvPr>
        </p:nvSpPr>
        <p:spPr>
          <a:xfrm>
            <a:off x="1472550" y="1447500"/>
            <a:ext cx="388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title" idx="2"/>
          </p:nvPr>
        </p:nvSpPr>
        <p:spPr>
          <a:xfrm>
            <a:off x="4206048" y="394425"/>
            <a:ext cx="4222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1"/>
          <p:cNvSpPr txBox="1">
            <a:spLocks noGrp="1"/>
          </p:cNvSpPr>
          <p:nvPr>
            <p:ph type="title" idx="3"/>
          </p:nvPr>
        </p:nvSpPr>
        <p:spPr>
          <a:xfrm>
            <a:off x="1472550" y="2291926"/>
            <a:ext cx="3883200" cy="38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1" name="Google Shape;171;p21"/>
          <p:cNvSpPr txBox="1">
            <a:spLocks noGrp="1"/>
          </p:cNvSpPr>
          <p:nvPr>
            <p:ph type="subTitle" idx="4"/>
          </p:nvPr>
        </p:nvSpPr>
        <p:spPr>
          <a:xfrm>
            <a:off x="1472550" y="2684425"/>
            <a:ext cx="388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title" idx="5"/>
          </p:nvPr>
        </p:nvSpPr>
        <p:spPr>
          <a:xfrm>
            <a:off x="1472550" y="3532797"/>
            <a:ext cx="3883200" cy="38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0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ubTitle" idx="6"/>
          </p:nvPr>
        </p:nvSpPr>
        <p:spPr>
          <a:xfrm>
            <a:off x="1472550" y="3921350"/>
            <a:ext cx="3883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174" name="Google Shape;174;p21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175" name="Google Shape;175;p21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21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21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21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>
            <a:spLocks noGrp="1"/>
          </p:cNvSpPr>
          <p:nvPr>
            <p:ph type="ctrTitle"/>
          </p:nvPr>
        </p:nvSpPr>
        <p:spPr>
          <a:xfrm>
            <a:off x="2429950" y="669825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1"/>
          </p:nvPr>
        </p:nvSpPr>
        <p:spPr>
          <a:xfrm>
            <a:off x="2425075" y="2085550"/>
            <a:ext cx="4293900" cy="119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94" name="Google Shape;194;p23"/>
          <p:cNvGrpSpPr/>
          <p:nvPr/>
        </p:nvGrpSpPr>
        <p:grpSpPr>
          <a:xfrm>
            <a:off x="-1268250" y="-1448331"/>
            <a:ext cx="11680500" cy="8040150"/>
            <a:chOff x="-1268250" y="-1448331"/>
            <a:chExt cx="11680500" cy="8040150"/>
          </a:xfrm>
        </p:grpSpPr>
        <p:sp>
          <p:nvSpPr>
            <p:cNvPr id="195" name="Google Shape;195;p23"/>
            <p:cNvSpPr/>
            <p:nvPr/>
          </p:nvSpPr>
          <p:spPr>
            <a:xfrm rot="5400000">
              <a:off x="-12682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3"/>
            <p:cNvSpPr/>
            <p:nvPr/>
          </p:nvSpPr>
          <p:spPr>
            <a:xfrm rot="-5400000" flipH="1">
              <a:off x="8428950" y="-1448331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3"/>
            <p:cNvSpPr/>
            <p:nvPr/>
          </p:nvSpPr>
          <p:spPr>
            <a:xfrm rot="5400000" flipH="1">
              <a:off x="-12682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3"/>
            <p:cNvSpPr/>
            <p:nvPr/>
          </p:nvSpPr>
          <p:spPr>
            <a:xfrm rot="-5400000">
              <a:off x="8428950" y="4608519"/>
              <a:ext cx="1983300" cy="1983300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9" name="Google Shape;199;p23"/>
          <p:cNvSpPr txBox="1"/>
          <p:nvPr/>
        </p:nvSpPr>
        <p:spPr>
          <a:xfrm>
            <a:off x="2425075" y="3493225"/>
            <a:ext cx="4293900" cy="6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CREDITS: This presentation template was created by 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including icons by 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and infographics &amp; images by </a:t>
            </a:r>
            <a:r>
              <a:rPr lang="en">
                <a:solidFill>
                  <a:schemeClr val="dk1"/>
                </a:solidFill>
                <a:uFill>
                  <a:noFill/>
                </a:uFill>
                <a:latin typeface="Source Sans Pro"/>
                <a:ea typeface="Source Sans Pro"/>
                <a:cs typeface="Source Sans Pro"/>
                <a:sym typeface="Source Sans Pr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3000"/>
              <a:buFont typeface="Archivo Black"/>
              <a:buNone/>
              <a:defRPr sz="3000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3000"/>
              <a:buFont typeface="Archivo Black"/>
              <a:buNone/>
              <a:defRPr sz="3000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3000"/>
              <a:buFont typeface="Archivo Black"/>
              <a:buNone/>
              <a:defRPr sz="3000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3000"/>
              <a:buFont typeface="Archivo Black"/>
              <a:buNone/>
              <a:defRPr sz="3000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3000"/>
              <a:buFont typeface="Archivo Black"/>
              <a:buNone/>
              <a:defRPr sz="3000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3000"/>
              <a:buFont typeface="Archivo Black"/>
              <a:buNone/>
              <a:defRPr sz="3000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3000"/>
              <a:buFont typeface="Archivo Black"/>
              <a:buNone/>
              <a:defRPr sz="3000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3000"/>
              <a:buFont typeface="Archivo Black"/>
              <a:buNone/>
              <a:defRPr sz="3000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3000"/>
              <a:buFont typeface="Archivo Black"/>
              <a:buNone/>
              <a:defRPr sz="3000">
                <a:solidFill>
                  <a:srgbClr val="D393FF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393FF"/>
              </a:buClr>
              <a:buSzPts val="1600"/>
              <a:buFont typeface="Source Sans Pro"/>
              <a:buChar char="●"/>
              <a:defRPr sz="1600">
                <a:solidFill>
                  <a:srgbClr val="D393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393FF"/>
              </a:buClr>
              <a:buSzPts val="1600"/>
              <a:buFont typeface="Source Sans Pro"/>
              <a:buChar char="○"/>
              <a:defRPr sz="1600">
                <a:solidFill>
                  <a:srgbClr val="D393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393FF"/>
              </a:buClr>
              <a:buSzPts val="1600"/>
              <a:buFont typeface="Source Sans Pro"/>
              <a:buChar char="■"/>
              <a:defRPr sz="1600">
                <a:solidFill>
                  <a:srgbClr val="D393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393FF"/>
              </a:buClr>
              <a:buSzPts val="1600"/>
              <a:buFont typeface="Source Sans Pro"/>
              <a:buChar char="●"/>
              <a:defRPr sz="1600">
                <a:solidFill>
                  <a:srgbClr val="D393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393FF"/>
              </a:buClr>
              <a:buSzPts val="1600"/>
              <a:buFont typeface="Source Sans Pro"/>
              <a:buChar char="○"/>
              <a:defRPr sz="1600">
                <a:solidFill>
                  <a:srgbClr val="D393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393FF"/>
              </a:buClr>
              <a:buSzPts val="1600"/>
              <a:buFont typeface="Source Sans Pro"/>
              <a:buChar char="■"/>
              <a:defRPr sz="1600">
                <a:solidFill>
                  <a:srgbClr val="D393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393FF"/>
              </a:buClr>
              <a:buSzPts val="1600"/>
              <a:buFont typeface="Source Sans Pro"/>
              <a:buChar char="●"/>
              <a:defRPr sz="1600">
                <a:solidFill>
                  <a:srgbClr val="D393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D393FF"/>
              </a:buClr>
              <a:buSzPts val="1600"/>
              <a:buFont typeface="Source Sans Pro"/>
              <a:buChar char="○"/>
              <a:defRPr sz="1600">
                <a:solidFill>
                  <a:srgbClr val="D393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D393FF"/>
              </a:buClr>
              <a:buSzPts val="1600"/>
              <a:buFont typeface="Source Sans Pro"/>
              <a:buChar char="■"/>
              <a:defRPr sz="1600">
                <a:solidFill>
                  <a:srgbClr val="D393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63" r:id="rId8"/>
    <p:sldLayoutId id="2147483665" r:id="rId9"/>
    <p:sldLayoutId id="2147483666" r:id="rId10"/>
    <p:sldLayoutId id="2147483667" r:id="rId11"/>
    <p:sldLayoutId id="2147483669" r:id="rId12"/>
    <p:sldLayoutId id="2147483670" r:id="rId13"/>
    <p:sldLayoutId id="214748367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ctrTitle"/>
          </p:nvPr>
        </p:nvSpPr>
        <p:spPr>
          <a:xfrm>
            <a:off x="0" y="843625"/>
            <a:ext cx="9144000" cy="164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chemeClr val="accent4"/>
                </a:solidFill>
              </a:rPr>
              <a:t>By Crypto Homyak Team</a:t>
            </a:r>
            <a:endParaRPr sz="4800" dirty="0">
              <a:solidFill>
                <a:schemeClr val="accent4"/>
              </a:solidFill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1477050" y="4320994"/>
            <a:ext cx="6189900" cy="3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Impact" panose="020B0806030902050204" pitchFamily="34" charset="0"/>
                <a:sym typeface="Source Sans Pro"/>
              </a:rPr>
              <a:t>Standoff 2</a:t>
            </a:r>
            <a:endParaRPr dirty="0">
              <a:solidFill>
                <a:schemeClr val="lt1"/>
              </a:solidFill>
              <a:latin typeface="Impact" panose="020B0806030902050204" pitchFamily="34" charset="0"/>
              <a:sym typeface="Source Sans Pro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subTitle" idx="1"/>
          </p:nvPr>
        </p:nvSpPr>
        <p:spPr>
          <a:xfrm rot="-5400000">
            <a:off x="-1108204" y="2783621"/>
            <a:ext cx="3252607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Impact" panose="020B0806030902050204" pitchFamily="34" charset="0"/>
                <a:sym typeface="Source Sans Pro"/>
              </a:rPr>
              <a:t>Даниил </a:t>
            </a:r>
            <a:r>
              <a:rPr lang="ru-RU" dirty="0" err="1">
                <a:solidFill>
                  <a:schemeClr val="lt1"/>
                </a:solidFill>
                <a:latin typeface="Impact" panose="020B0806030902050204" pitchFamily="34" charset="0"/>
                <a:sym typeface="Source Sans Pro"/>
              </a:rPr>
              <a:t>Колбасенко</a:t>
            </a:r>
            <a:endParaRPr dirty="0">
              <a:solidFill>
                <a:schemeClr val="lt1"/>
              </a:solidFill>
              <a:latin typeface="Impact" panose="020B0806030902050204" pitchFamily="34" charset="0"/>
              <a:sym typeface="Source Sans Pro"/>
            </a:endParaRPr>
          </a:p>
        </p:txBody>
      </p:sp>
      <p:pic>
        <p:nvPicPr>
          <p:cNvPr id="213" name="Google Shape;213;p28"/>
          <p:cNvPicPr preferRelativeResize="0"/>
          <p:nvPr/>
        </p:nvPicPr>
        <p:blipFill>
          <a:blip r:embed="rId4">
            <a:alphaModFix/>
          </a:blip>
          <a:srcRect l="-50" t="22700" r="50" b="33332"/>
          <a:stretch>
            <a:fillRect/>
          </a:stretch>
        </p:blipFill>
        <p:spPr>
          <a:xfrm>
            <a:off x="715450" y="2072575"/>
            <a:ext cx="7713101" cy="2260899"/>
          </a:xfrm>
          <a:prstGeom prst="rect">
            <a:avLst/>
          </a:prstGeom>
          <a:noFill/>
          <a:ln w="19050" cap="flat" cmpd="sng">
            <a:solidFill>
              <a:srgbClr val="D393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4" name="Google Shape;214;p28"/>
          <p:cNvSpPr/>
          <p:nvPr/>
        </p:nvSpPr>
        <p:spPr>
          <a:xfrm>
            <a:off x="715450" y="534984"/>
            <a:ext cx="7713109" cy="65856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0" i="0" dirty="0">
                <a:ln w="28575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Last Dep</a:t>
            </a:r>
            <a:endParaRPr b="0" i="0" dirty="0"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Archivo Black"/>
            </a:endParaRPr>
          </a:p>
        </p:txBody>
      </p:sp>
      <p:sp>
        <p:nvSpPr>
          <p:cNvPr id="215" name="Google Shape;215;p28"/>
          <p:cNvSpPr/>
          <p:nvPr/>
        </p:nvSpPr>
        <p:spPr>
          <a:xfrm>
            <a:off x="7566975" y="44672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8"/>
          <p:cNvSpPr txBox="1">
            <a:spLocks noGrp="1"/>
          </p:cNvSpPr>
          <p:nvPr>
            <p:ph type="subTitle" idx="1"/>
          </p:nvPr>
        </p:nvSpPr>
        <p:spPr>
          <a:xfrm rot="5400000">
            <a:off x="6590450" y="2378250"/>
            <a:ext cx="4063200" cy="38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  <a:latin typeface="Impact" panose="020B0806030902050204" pitchFamily="34" charset="0"/>
              </a:rPr>
              <a:t>Slots</a:t>
            </a:r>
            <a:endParaRPr dirty="0">
              <a:solidFill>
                <a:schemeClr val="lt1"/>
              </a:solidFill>
              <a:latin typeface="Impact" panose="020B0806030902050204" pitchFamily="34" charset="0"/>
              <a:sym typeface="Source Sans Pro"/>
            </a:endParaRPr>
          </a:p>
        </p:txBody>
      </p:sp>
      <p:sp>
        <p:nvSpPr>
          <p:cNvPr id="217" name="Google Shape;217;p28"/>
          <p:cNvSpPr/>
          <p:nvPr/>
        </p:nvSpPr>
        <p:spPr>
          <a:xfrm>
            <a:off x="386188" y="404926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8"/>
          <p:cNvSpPr/>
          <p:nvPr/>
        </p:nvSpPr>
        <p:spPr>
          <a:xfrm>
            <a:off x="4314000" y="-1580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>
            <a:spLocks noGrp="1"/>
          </p:cNvSpPr>
          <p:nvPr>
            <p:ph type="title"/>
          </p:nvPr>
        </p:nvSpPr>
        <p:spPr>
          <a:xfrm>
            <a:off x="1227875" y="958413"/>
            <a:ext cx="3189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COMPANY</a:t>
            </a:r>
          </a:p>
        </p:txBody>
      </p:sp>
      <p:sp>
        <p:nvSpPr>
          <p:cNvPr id="264" name="Google Shape;264;p31"/>
          <p:cNvSpPr txBox="1">
            <a:spLocks noGrp="1"/>
          </p:cNvSpPr>
          <p:nvPr>
            <p:ph type="subTitle" idx="1"/>
          </p:nvPr>
        </p:nvSpPr>
        <p:spPr>
          <a:xfrm>
            <a:off x="1227875" y="1531113"/>
            <a:ext cx="3189000" cy="25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Наша команда была создана на коленке с целью представить вам наш инновационный продукт (</a:t>
            </a:r>
            <a:r>
              <a:rPr lang="en-US" dirty="0" err="1">
                <a:solidFill>
                  <a:schemeClr val="dk1"/>
                </a:solidFill>
              </a:rPr>
              <a:t>LastDep</a:t>
            </a:r>
            <a:r>
              <a:rPr lang="en-US" dirty="0">
                <a:solidFill>
                  <a:schemeClr val="dk1"/>
                </a:solidFill>
              </a:rPr>
              <a:t>).</a:t>
            </a:r>
            <a:br>
              <a:rPr lang="en-US" dirty="0">
                <a:solidFill>
                  <a:schemeClr val="dk1"/>
                </a:solidFill>
              </a:rPr>
            </a:br>
            <a:r>
              <a:rPr lang="ru-RU" dirty="0">
                <a:solidFill>
                  <a:schemeClr val="dk1"/>
                </a:solidFill>
              </a:rPr>
              <a:t>За идею названия взят успешный стартап </a:t>
            </a:r>
            <a:r>
              <a:rPr lang="en-US" dirty="0">
                <a:solidFill>
                  <a:schemeClr val="dk1"/>
                </a:solidFill>
              </a:rPr>
              <a:t>Hamster Kombat</a:t>
            </a:r>
            <a:r>
              <a:rPr lang="ru-RU" dirty="0">
                <a:solidFill>
                  <a:schemeClr val="dk1"/>
                </a:solidFill>
              </a:rPr>
              <a:t>.</a:t>
            </a:r>
            <a:br>
              <a:rPr lang="en-US" dirty="0">
                <a:solidFill>
                  <a:schemeClr val="dk1"/>
                </a:solidFill>
              </a:rPr>
            </a:br>
            <a:r>
              <a:rPr lang="ru-RU" dirty="0">
                <a:solidFill>
                  <a:schemeClr val="dk1"/>
                </a:solidFill>
              </a:rPr>
              <a:t>И вы уже должны были понять что наш проект будущая инновация.</a:t>
            </a:r>
            <a:endParaRPr dirty="0">
              <a:solidFill>
                <a:schemeClr val="dk1"/>
              </a:solidFill>
            </a:endParaRPr>
          </a:p>
        </p:txBody>
      </p:sp>
      <p:pic>
        <p:nvPicPr>
          <p:cNvPr id="265" name="Google Shape;265;p31"/>
          <p:cNvPicPr preferRelativeResize="0"/>
          <p:nvPr/>
        </p:nvPicPr>
        <p:blipFill>
          <a:blip r:embed="rId4">
            <a:alphaModFix/>
          </a:blip>
          <a:srcRect t="1007" b="21577"/>
          <a:stretch>
            <a:fillRect/>
          </a:stretch>
        </p:blipFill>
        <p:spPr>
          <a:xfrm>
            <a:off x="4997209" y="540000"/>
            <a:ext cx="3499248" cy="4063500"/>
          </a:xfrm>
          <a:prstGeom prst="rect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6" name="Google Shape;266;p31"/>
          <p:cNvSpPr/>
          <p:nvPr/>
        </p:nvSpPr>
        <p:spPr>
          <a:xfrm>
            <a:off x="647543" y="544433"/>
            <a:ext cx="1336049" cy="4017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Наша</a:t>
            </a:r>
            <a:endParaRPr lang="en-US" b="0" i="0" dirty="0"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Archivo Black"/>
            </a:endParaRPr>
          </a:p>
        </p:txBody>
      </p:sp>
      <p:sp>
        <p:nvSpPr>
          <p:cNvPr id="269" name="Google Shape;269;p31"/>
          <p:cNvSpPr/>
          <p:nvPr/>
        </p:nvSpPr>
        <p:spPr>
          <a:xfrm>
            <a:off x="7566975" y="44672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31"/>
          <p:cNvSpPr/>
          <p:nvPr/>
        </p:nvSpPr>
        <p:spPr>
          <a:xfrm>
            <a:off x="2402488" y="4190538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4314000" y="-1580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>
              <a:buNone/>
            </a:pPr>
            <a:r>
              <a:rPr lang="ru-RU" dirty="0" err="1">
                <a:solidFill>
                  <a:schemeClr val="lt2"/>
                </a:solidFill>
              </a:rPr>
              <a:t>LastDep</a:t>
            </a:r>
            <a:r>
              <a:rPr lang="ru-RU" dirty="0">
                <a:solidFill>
                  <a:schemeClr val="lt2"/>
                </a:solidFill>
              </a:rPr>
              <a:t> — это место.</a:t>
            </a:r>
          </a:p>
          <a:p>
            <a:pPr marL="152400" indent="0">
              <a:buNone/>
            </a:pPr>
            <a:r>
              <a:rPr lang="ru-RU" dirty="0">
                <a:solidFill>
                  <a:schemeClr val="lt2"/>
                </a:solidFill>
              </a:rPr>
              <a:t>Ты не заходишь в казино(мы полностью осуждаем азартные игры</a:t>
            </a:r>
            <a:r>
              <a:rPr lang="en-US" dirty="0">
                <a:solidFill>
                  <a:schemeClr val="lt2"/>
                </a:solidFill>
              </a:rPr>
              <a:t>, </a:t>
            </a:r>
            <a:r>
              <a:rPr lang="ru-RU" dirty="0">
                <a:solidFill>
                  <a:schemeClr val="lt2"/>
                </a:solidFill>
              </a:rPr>
              <a:t> у нас в игре нельзя </a:t>
            </a:r>
            <a:r>
              <a:rPr lang="ru-RU" dirty="0" err="1">
                <a:solidFill>
                  <a:schemeClr val="lt2"/>
                </a:solidFill>
              </a:rPr>
              <a:t>депать</a:t>
            </a:r>
            <a:r>
              <a:rPr lang="ru-RU" dirty="0">
                <a:solidFill>
                  <a:schemeClr val="lt2"/>
                </a:solidFill>
              </a:rPr>
              <a:t>* зарплату).</a:t>
            </a:r>
            <a:br>
              <a:rPr lang="ru-RU" dirty="0">
                <a:solidFill>
                  <a:schemeClr val="lt2"/>
                </a:solidFill>
              </a:rPr>
            </a:br>
            <a:r>
              <a:rPr lang="ru-RU" dirty="0">
                <a:solidFill>
                  <a:schemeClr val="lt2"/>
                </a:solidFill>
              </a:rPr>
              <a:t>Ты просыпаешься в нём.</a:t>
            </a:r>
          </a:p>
          <a:p>
            <a:pPr marL="152400" indent="0">
              <a:buNone/>
            </a:pPr>
            <a:r>
              <a:rPr lang="ru-RU" dirty="0">
                <a:solidFill>
                  <a:schemeClr val="lt2"/>
                </a:solidFill>
              </a:rPr>
              <a:t>Никто не объясняет правила.</a:t>
            </a:r>
            <a:br>
              <a:rPr lang="ru-RU" dirty="0">
                <a:solidFill>
                  <a:schemeClr val="lt2"/>
                </a:solidFill>
              </a:rPr>
            </a:br>
            <a:r>
              <a:rPr lang="ru-RU" dirty="0">
                <a:solidFill>
                  <a:schemeClr val="lt2"/>
                </a:solidFill>
              </a:rPr>
              <a:t>Есть только долг.</a:t>
            </a:r>
            <a:br>
              <a:rPr lang="ru-RU" dirty="0">
                <a:solidFill>
                  <a:schemeClr val="lt2"/>
                </a:solidFill>
              </a:rPr>
            </a:br>
            <a:r>
              <a:rPr lang="ru-RU" dirty="0">
                <a:solidFill>
                  <a:schemeClr val="lt2"/>
                </a:solidFill>
              </a:rPr>
              <a:t>И кнопка.</a:t>
            </a:r>
            <a:br>
              <a:rPr lang="ru-RU" dirty="0">
                <a:solidFill>
                  <a:schemeClr val="lt2"/>
                </a:solidFill>
              </a:rPr>
            </a:br>
            <a:br>
              <a:rPr lang="ru-RU" dirty="0">
                <a:solidFill>
                  <a:schemeClr val="lt2"/>
                </a:solidFill>
              </a:rPr>
            </a:br>
            <a:r>
              <a:rPr lang="ru-RU" dirty="0" err="1">
                <a:solidFill>
                  <a:schemeClr val="lt2"/>
                </a:solidFill>
              </a:rPr>
              <a:t>LastDep</a:t>
            </a:r>
            <a:r>
              <a:rPr lang="ru-RU" dirty="0">
                <a:solidFill>
                  <a:schemeClr val="lt2"/>
                </a:solidFill>
              </a:rPr>
              <a:t> разрабатывалась как лёгкая по ресурсам альтернатива игре </a:t>
            </a:r>
            <a:r>
              <a:rPr lang="ru-RU" dirty="0" err="1">
                <a:solidFill>
                  <a:schemeClr val="lt2"/>
                </a:solidFill>
              </a:rPr>
              <a:t>CloverPit</a:t>
            </a:r>
            <a:r>
              <a:rPr lang="ru-RU" dirty="0">
                <a:solidFill>
                  <a:schemeClr val="lt2"/>
                </a:solidFill>
              </a:rPr>
              <a:t>.</a:t>
            </a:r>
            <a:br>
              <a:rPr lang="ru-RU" dirty="0">
                <a:solidFill>
                  <a:schemeClr val="lt2"/>
                </a:solidFill>
              </a:rPr>
            </a:br>
            <a:r>
              <a:rPr lang="ru-RU" dirty="0">
                <a:solidFill>
                  <a:schemeClr val="lt2"/>
                </a:solidFill>
              </a:rPr>
              <a:t>На фоне роста цен на оперативную память и ограниченных возможностей слабых устройств, проект ориентирован на доступность без потери глубины геймплея.</a:t>
            </a:r>
            <a:br>
              <a:rPr lang="ru-RU" dirty="0">
                <a:solidFill>
                  <a:schemeClr val="lt2"/>
                </a:solidFill>
              </a:rPr>
            </a:br>
            <a:br>
              <a:rPr lang="ru-RU" dirty="0">
                <a:solidFill>
                  <a:schemeClr val="lt2"/>
                </a:solidFill>
              </a:rPr>
            </a:br>
            <a:r>
              <a:rPr lang="ru-RU" dirty="0">
                <a:solidFill>
                  <a:schemeClr val="lt2"/>
                </a:solidFill>
              </a:rPr>
              <a:t>Также наш проект </a:t>
            </a:r>
            <a:r>
              <a:rPr lang="ru-RU" dirty="0" err="1">
                <a:solidFill>
                  <a:schemeClr val="lt2"/>
                </a:solidFill>
              </a:rPr>
              <a:t>расчитан</a:t>
            </a:r>
            <a:r>
              <a:rPr lang="ru-RU" dirty="0">
                <a:solidFill>
                  <a:schemeClr val="lt2"/>
                </a:solidFill>
              </a:rPr>
              <a:t> на аудиторию у которой не хватает денег на оригинальное творчество</a:t>
            </a:r>
            <a:r>
              <a:rPr lang="en-US" i="1" dirty="0">
                <a:solidFill>
                  <a:schemeClr val="lt2"/>
                </a:solidFill>
              </a:rPr>
              <a:t>(</a:t>
            </a:r>
            <a:r>
              <a:rPr lang="ru-RU" i="1" dirty="0">
                <a:solidFill>
                  <a:schemeClr val="lt2"/>
                </a:solidFill>
              </a:rPr>
              <a:t>вам бесплатная пиратка </a:t>
            </a:r>
            <a:r>
              <a:rPr lang="en-US" i="1" dirty="0">
                <a:solidFill>
                  <a:schemeClr val="lt2"/>
                </a:solidFill>
              </a:rPr>
              <a:t>https://cloud.onlysq.ru/file/vxwbnW</a:t>
            </a:r>
            <a:r>
              <a:rPr lang="ru-RU" i="1" dirty="0">
                <a:solidFill>
                  <a:schemeClr val="lt2"/>
                </a:solidFill>
              </a:rPr>
              <a:t>). </a:t>
            </a:r>
            <a:r>
              <a:rPr lang="ru-RU" dirty="0">
                <a:solidFill>
                  <a:schemeClr val="lt2"/>
                </a:solidFill>
              </a:rPr>
              <a:t>Так как наш проект</a:t>
            </a:r>
            <a:r>
              <a:rPr lang="en-US" dirty="0">
                <a:solidFill>
                  <a:schemeClr val="lt2"/>
                </a:solidFill>
              </a:rPr>
              <a:t> </a:t>
            </a:r>
            <a:r>
              <a:rPr lang="ru-RU" dirty="0">
                <a:solidFill>
                  <a:schemeClr val="lt2"/>
                </a:solidFill>
              </a:rPr>
              <a:t>имеет открытый исходный код</a:t>
            </a:r>
            <a:r>
              <a:rPr lang="en-US" dirty="0">
                <a:solidFill>
                  <a:schemeClr val="lt2"/>
                </a:solidFill>
              </a:rPr>
              <a:t>, </a:t>
            </a:r>
            <a:r>
              <a:rPr lang="ru-RU" dirty="0">
                <a:solidFill>
                  <a:schemeClr val="lt2"/>
                </a:solidFill>
              </a:rPr>
              <a:t> вам не нужно переживать за ваши кошельки чтобы поиграть в наше творчество.</a:t>
            </a:r>
          </a:p>
          <a:p>
            <a:pPr marL="152400" indent="0">
              <a:buNone/>
            </a:pPr>
            <a:endParaRPr lang="ru-RU" dirty="0">
              <a:solidFill>
                <a:schemeClr val="lt2"/>
              </a:solidFill>
            </a:endParaRPr>
          </a:p>
          <a:p>
            <a:pPr marL="152400" indent="0">
              <a:buNone/>
            </a:pPr>
            <a:r>
              <a:rPr lang="ru-RU" dirty="0" err="1">
                <a:solidFill>
                  <a:schemeClr val="lt2"/>
                </a:solidFill>
              </a:rPr>
              <a:t>LastDep</a:t>
            </a:r>
            <a:r>
              <a:rPr lang="ru-RU" dirty="0">
                <a:solidFill>
                  <a:schemeClr val="lt2"/>
                </a:solidFill>
              </a:rPr>
              <a:t> — это не игра про выигрыш.</a:t>
            </a:r>
            <a:br>
              <a:rPr lang="ru-RU" dirty="0">
                <a:solidFill>
                  <a:schemeClr val="lt2"/>
                </a:solidFill>
              </a:rPr>
            </a:br>
            <a:r>
              <a:rPr lang="ru-RU" dirty="0">
                <a:solidFill>
                  <a:schemeClr val="lt2"/>
                </a:solidFill>
              </a:rPr>
              <a:t>Это игра про то, как долго можно оставаться внутри системы, не имея полного контроля над ней.</a:t>
            </a:r>
          </a:p>
          <a:p>
            <a:pPr marL="152400" indent="0">
              <a:buNone/>
            </a:pPr>
            <a:endParaRPr lang="ru-RU" dirty="0">
              <a:solidFill>
                <a:schemeClr val="lt2"/>
              </a:solidFill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3491345" y="534975"/>
            <a:ext cx="4932654" cy="2913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b="0" i="0" dirty="0"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Идея нашего проекта</a:t>
            </a:r>
            <a:endParaRPr lang="en-US" b="0" i="0" dirty="0"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Archivo Black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 rot="-5400000">
            <a:off x="-1513500" y="2378325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Archivo Black" panose="020B0604020202020204" charset="0"/>
                <a:ea typeface="Source Sans Pro"/>
                <a:cs typeface="Source Sans Pro"/>
                <a:sym typeface="Source Sans Pro"/>
              </a:rPr>
              <a:t>Crypto</a:t>
            </a:r>
            <a:endParaRPr sz="1600" dirty="0">
              <a:solidFill>
                <a:schemeClr val="lt1"/>
              </a:solidFill>
              <a:latin typeface="Archivo Black" panose="020B060402020202020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7" name="Google Shape;227;p29"/>
          <p:cNvSpPr txBox="1"/>
          <p:nvPr/>
        </p:nvSpPr>
        <p:spPr>
          <a:xfrm rot="5400000">
            <a:off x="6590450" y="2378250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Archivo Black" panose="020B0604020202020204" charset="0"/>
                <a:ea typeface="Source Sans Pro"/>
                <a:cs typeface="Source Sans Pro"/>
                <a:sym typeface="Source Sans Pro"/>
              </a:rPr>
              <a:t>Homyak</a:t>
            </a:r>
            <a:endParaRPr sz="1600" dirty="0">
              <a:solidFill>
                <a:schemeClr val="lt1"/>
              </a:solidFill>
              <a:latin typeface="Archivo Black" panose="020B060402020202020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5730450" y="435052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9"/>
          <p:cNvSpPr/>
          <p:nvPr/>
        </p:nvSpPr>
        <p:spPr>
          <a:xfrm>
            <a:off x="8099288" y="382926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9"/>
          <p:cNvSpPr/>
          <p:nvPr/>
        </p:nvSpPr>
        <p:spPr>
          <a:xfrm>
            <a:off x="833650" y="2769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AutoShape 2" descr="Скачать картинки График рост синий, стоковые фото График рост синий в  хорошем качестве | DepositPhotos">
            <a:extLst>
              <a:ext uri="{FF2B5EF4-FFF2-40B4-BE49-F238E27FC236}">
                <a16:creationId xmlns:a16="http://schemas.microsoft.com/office/drawing/2014/main" id="{6DE0C031-0008-C8EE-4097-08B9E0FA59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C93D4-58A9-2552-179A-7D533EE09BA3}"/>
              </a:ext>
            </a:extLst>
          </p:cNvPr>
          <p:cNvSpPr txBox="1"/>
          <p:nvPr/>
        </p:nvSpPr>
        <p:spPr>
          <a:xfrm>
            <a:off x="833650" y="4832045"/>
            <a:ext cx="78942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100" dirty="0" err="1">
                <a:solidFill>
                  <a:schemeClr val="lt2"/>
                </a:solidFill>
                <a:latin typeface="Source Sans Pro"/>
                <a:ea typeface="Source Sans Pro"/>
                <a:sym typeface="Source Sans Pro"/>
              </a:rPr>
              <a:t>Депать</a:t>
            </a:r>
            <a:r>
              <a:rPr lang="ru-RU" sz="1100" dirty="0">
                <a:solidFill>
                  <a:schemeClr val="lt2"/>
                </a:solidFill>
                <a:latin typeface="Source Sans Pro"/>
                <a:ea typeface="Source Sans Pro"/>
                <a:sym typeface="Source Sans Pro"/>
              </a:rPr>
              <a:t>* - (</a:t>
            </a:r>
            <a:r>
              <a:rPr lang="ru-RU" sz="1100" dirty="0" err="1">
                <a:solidFill>
                  <a:schemeClr val="lt2"/>
                </a:solidFill>
                <a:latin typeface="Source Sans Pro"/>
                <a:ea typeface="Source Sans Pro"/>
                <a:sym typeface="Source Sans Pro"/>
              </a:rPr>
              <a:t>от.англ</a:t>
            </a:r>
            <a:r>
              <a:rPr lang="ru-RU" sz="1100" dirty="0">
                <a:solidFill>
                  <a:schemeClr val="lt2"/>
                </a:solidFill>
                <a:latin typeface="Source Sans Pro"/>
                <a:ea typeface="Source Sans Pro"/>
                <a:sym typeface="Source Sans Pro"/>
              </a:rPr>
              <a:t> "</a:t>
            </a:r>
            <a:r>
              <a:rPr lang="ru-RU" sz="1100" dirty="0" err="1">
                <a:solidFill>
                  <a:schemeClr val="lt2"/>
                </a:solidFill>
                <a:latin typeface="Source Sans Pro"/>
                <a:ea typeface="Source Sans Pro"/>
                <a:sym typeface="Source Sans Pro"/>
              </a:rPr>
              <a:t>deposit</a:t>
            </a:r>
            <a:r>
              <a:rPr lang="ru-RU" sz="1100" dirty="0">
                <a:solidFill>
                  <a:schemeClr val="lt2"/>
                </a:solidFill>
                <a:latin typeface="Source Sans Pro"/>
                <a:ea typeface="Source Sans Pro"/>
                <a:sym typeface="Source Sans Pro"/>
              </a:rPr>
              <a:t>"-"вносить") подразумевается в отрицательном контексте(вносить деньги в казино)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>
            <a:spLocks noGrp="1"/>
          </p:cNvSpPr>
          <p:nvPr>
            <p:ph type="title"/>
          </p:nvPr>
        </p:nvSpPr>
        <p:spPr>
          <a:xfrm>
            <a:off x="888725" y="1076300"/>
            <a:ext cx="1439700" cy="661500"/>
          </a:xfrm>
          <a:prstGeom prst="rect">
            <a:avLst/>
          </a:prstGeom>
        </p:spPr>
        <p:txBody>
          <a:bodyPr spcFirstLastPara="1" wrap="square" lIns="91425" tIns="91425" rIns="2743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latin typeface="Impact" panose="020B0806030902050204" pitchFamily="34" charset="0"/>
              </a:rPr>
              <a:t>Рост цен на ПК</a:t>
            </a:r>
            <a:endParaRPr sz="1800" dirty="0">
              <a:latin typeface="Impact" panose="020B0806030902050204" pitchFamily="34" charset="0"/>
            </a:endParaRPr>
          </a:p>
        </p:txBody>
      </p:sp>
      <p:sp>
        <p:nvSpPr>
          <p:cNvPr id="236" name="Google Shape;236;p30"/>
          <p:cNvSpPr txBox="1">
            <a:spLocks noGrp="1"/>
          </p:cNvSpPr>
          <p:nvPr>
            <p:ph type="subTitle" idx="1"/>
          </p:nvPr>
        </p:nvSpPr>
        <p:spPr>
          <a:xfrm>
            <a:off x="885125" y="1737742"/>
            <a:ext cx="1849800" cy="7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IT-</a:t>
            </a:r>
            <a:r>
              <a:rPr lang="ru-RU" dirty="0"/>
              <a:t>Гиганты все скупили</a:t>
            </a:r>
            <a:r>
              <a:rPr lang="en-US" dirty="0"/>
              <a:t> -</a:t>
            </a:r>
            <a:r>
              <a:rPr lang="ru-RU" dirty="0"/>
              <a:t> мы в нищете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37" name="Google Shape;237;p30"/>
          <p:cNvSpPr txBox="1">
            <a:spLocks noGrp="1"/>
          </p:cNvSpPr>
          <p:nvPr>
            <p:ph type="title" idx="2"/>
          </p:nvPr>
        </p:nvSpPr>
        <p:spPr>
          <a:xfrm>
            <a:off x="3100404" y="1076300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Бесплатные игры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238" name="Google Shape;238;p30"/>
          <p:cNvSpPr txBox="1">
            <a:spLocks noGrp="1"/>
          </p:cNvSpPr>
          <p:nvPr>
            <p:ph type="subTitle" idx="3"/>
          </p:nvPr>
        </p:nvSpPr>
        <p:spPr>
          <a:xfrm>
            <a:off x="3100427" y="1737729"/>
            <a:ext cx="18498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Найти годные бесплатные игры - редкость</a:t>
            </a:r>
            <a:endParaRPr dirty="0"/>
          </a:p>
        </p:txBody>
      </p:sp>
      <p:sp>
        <p:nvSpPr>
          <p:cNvPr id="239" name="Google Shape;239;p30"/>
          <p:cNvSpPr txBox="1">
            <a:spLocks noGrp="1"/>
          </p:cNvSpPr>
          <p:nvPr>
            <p:ph type="title" idx="4"/>
          </p:nvPr>
        </p:nvSpPr>
        <p:spPr>
          <a:xfrm>
            <a:off x="5308503" y="1076300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Открытый исходный код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240" name="Google Shape;240;p30"/>
          <p:cNvSpPr txBox="1">
            <a:spLocks noGrp="1"/>
          </p:cNvSpPr>
          <p:nvPr>
            <p:ph type="subTitle" idx="5"/>
          </p:nvPr>
        </p:nvSpPr>
        <p:spPr>
          <a:xfrm>
            <a:off x="5308527" y="1737667"/>
            <a:ext cx="1849800" cy="73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Если вы боитесь вирусов – это для вас</a:t>
            </a:r>
            <a:endParaRPr dirty="0"/>
          </a:p>
        </p:txBody>
      </p:sp>
      <p:sp>
        <p:nvSpPr>
          <p:cNvPr id="241" name="Google Shape;241;p30"/>
          <p:cNvSpPr txBox="1">
            <a:spLocks noGrp="1"/>
          </p:cNvSpPr>
          <p:nvPr>
            <p:ph type="title" idx="6"/>
          </p:nvPr>
        </p:nvSpPr>
        <p:spPr>
          <a:xfrm>
            <a:off x="888725" y="3267375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Полезный геймплей</a:t>
            </a:r>
            <a:endParaRPr lang="en-US" dirty="0">
              <a:latin typeface="Impact" panose="020B0806030902050204" pitchFamily="34" charset="0"/>
            </a:endParaRPr>
          </a:p>
        </p:txBody>
      </p:sp>
      <p:sp>
        <p:nvSpPr>
          <p:cNvPr id="242" name="Google Shape;242;p30"/>
          <p:cNvSpPr txBox="1">
            <a:spLocks noGrp="1"/>
          </p:cNvSpPr>
          <p:nvPr>
            <p:ph type="subTitle" idx="7"/>
          </p:nvPr>
        </p:nvSpPr>
        <p:spPr>
          <a:xfrm>
            <a:off x="888725" y="3921711"/>
            <a:ext cx="1970324" cy="80356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Наша игра про математику</a:t>
            </a:r>
            <a:r>
              <a:rPr lang="en-US" dirty="0"/>
              <a:t>, </a:t>
            </a:r>
            <a:r>
              <a:rPr lang="ru-RU" dirty="0"/>
              <a:t>а не про удачу.</a:t>
            </a:r>
            <a:endParaRPr dirty="0"/>
          </a:p>
        </p:txBody>
      </p:sp>
      <p:sp>
        <p:nvSpPr>
          <p:cNvPr id="243" name="Google Shape;243;p30"/>
          <p:cNvSpPr txBox="1">
            <a:spLocks noGrp="1"/>
          </p:cNvSpPr>
          <p:nvPr>
            <p:ph type="title" idx="8"/>
          </p:nvPr>
        </p:nvSpPr>
        <p:spPr>
          <a:xfrm>
            <a:off x="3100425" y="3267375"/>
            <a:ext cx="2087576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Эмоциональные проблемы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244" name="Google Shape;244;p30"/>
          <p:cNvSpPr txBox="1">
            <a:spLocks noGrp="1"/>
          </p:cNvSpPr>
          <p:nvPr>
            <p:ph type="subTitle" idx="9"/>
          </p:nvPr>
        </p:nvSpPr>
        <p:spPr>
          <a:xfrm>
            <a:off x="3100425" y="3928931"/>
            <a:ext cx="1849800" cy="66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Вы готовы проиграть битву</a:t>
            </a:r>
            <a:r>
              <a:rPr lang="en-US" dirty="0"/>
              <a:t>, </a:t>
            </a:r>
            <a:r>
              <a:rPr lang="ru-RU" dirty="0"/>
              <a:t>но не войну</a:t>
            </a:r>
            <a:endParaRPr dirty="0"/>
          </a:p>
        </p:txBody>
      </p:sp>
      <p:sp>
        <p:nvSpPr>
          <p:cNvPr id="247" name="Google Shape;247;p30"/>
          <p:cNvSpPr txBox="1">
            <a:spLocks noGrp="1"/>
          </p:cNvSpPr>
          <p:nvPr>
            <p:ph type="title" idx="15"/>
          </p:nvPr>
        </p:nvSpPr>
        <p:spPr>
          <a:xfrm rot="5400000">
            <a:off x="5972293" y="2398294"/>
            <a:ext cx="3899664" cy="530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Которые мы решаем</a:t>
            </a:r>
            <a:endParaRPr dirty="0"/>
          </a:p>
        </p:txBody>
      </p:sp>
      <p:sp>
        <p:nvSpPr>
          <p:cNvPr id="248" name="Google Shape;248;p30"/>
          <p:cNvSpPr/>
          <p:nvPr/>
        </p:nvSpPr>
        <p:spPr>
          <a:xfrm>
            <a:off x="996136" y="536792"/>
            <a:ext cx="913201" cy="4151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01.</a:t>
            </a:r>
          </a:p>
        </p:txBody>
      </p:sp>
      <p:sp>
        <p:nvSpPr>
          <p:cNvPr id="249" name="Google Shape;249;p30"/>
          <p:cNvSpPr/>
          <p:nvPr/>
        </p:nvSpPr>
        <p:spPr>
          <a:xfrm rot="5400000">
            <a:off x="7137677" y="2420686"/>
            <a:ext cx="2279622" cy="30212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dirty="0"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Проблемы</a:t>
            </a:r>
            <a:endParaRPr b="0" i="0" dirty="0"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Archivo Black"/>
            </a:endParaRPr>
          </a:p>
        </p:txBody>
      </p:sp>
      <p:sp>
        <p:nvSpPr>
          <p:cNvPr id="250" name="Google Shape;250;p30"/>
          <p:cNvSpPr/>
          <p:nvPr/>
        </p:nvSpPr>
        <p:spPr>
          <a:xfrm>
            <a:off x="3211398" y="536779"/>
            <a:ext cx="913201" cy="4151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02.</a:t>
            </a:r>
          </a:p>
        </p:txBody>
      </p:sp>
      <p:sp>
        <p:nvSpPr>
          <p:cNvPr id="251" name="Google Shape;251;p30"/>
          <p:cNvSpPr/>
          <p:nvPr/>
        </p:nvSpPr>
        <p:spPr>
          <a:xfrm>
            <a:off x="5423061" y="536717"/>
            <a:ext cx="913201" cy="4151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03.</a:t>
            </a:r>
          </a:p>
        </p:txBody>
      </p:sp>
      <p:sp>
        <p:nvSpPr>
          <p:cNvPr id="252" name="Google Shape;252;p30"/>
          <p:cNvSpPr/>
          <p:nvPr/>
        </p:nvSpPr>
        <p:spPr>
          <a:xfrm>
            <a:off x="996136" y="2718860"/>
            <a:ext cx="913201" cy="4151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04.</a:t>
            </a:r>
          </a:p>
        </p:txBody>
      </p:sp>
      <p:sp>
        <p:nvSpPr>
          <p:cNvPr id="253" name="Google Shape;253;p30"/>
          <p:cNvSpPr/>
          <p:nvPr/>
        </p:nvSpPr>
        <p:spPr>
          <a:xfrm>
            <a:off x="3211398" y="2718848"/>
            <a:ext cx="913201" cy="41519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05.</a:t>
            </a:r>
          </a:p>
        </p:txBody>
      </p:sp>
      <p:sp>
        <p:nvSpPr>
          <p:cNvPr id="255" name="Google Shape;255;p30"/>
          <p:cNvSpPr txBox="1"/>
          <p:nvPr/>
        </p:nvSpPr>
        <p:spPr>
          <a:xfrm rot="-5400000">
            <a:off x="-1513500" y="2378325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Archivo Black" panose="020B0604020202020204" charset="0"/>
                <a:ea typeface="Source Sans Pro"/>
                <a:cs typeface="Source Sans Pro"/>
                <a:sym typeface="Source Sans Pro"/>
              </a:rPr>
              <a:t>Yandex LMS</a:t>
            </a:r>
            <a:endParaRPr sz="1600" dirty="0">
              <a:solidFill>
                <a:schemeClr val="lt1"/>
              </a:solidFill>
              <a:latin typeface="Archivo Black" panose="020B060402020202020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6" name="Google Shape;256;p30"/>
          <p:cNvSpPr/>
          <p:nvPr/>
        </p:nvSpPr>
        <p:spPr>
          <a:xfrm>
            <a:off x="7445363" y="20571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30"/>
          <p:cNvSpPr/>
          <p:nvPr/>
        </p:nvSpPr>
        <p:spPr>
          <a:xfrm>
            <a:off x="136450" y="86422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30"/>
          <p:cNvSpPr/>
          <p:nvPr/>
        </p:nvSpPr>
        <p:spPr>
          <a:xfrm>
            <a:off x="7566975" y="44672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3"/>
          <p:cNvSpPr txBox="1">
            <a:spLocks noGrp="1"/>
          </p:cNvSpPr>
          <p:nvPr>
            <p:ph type="title"/>
          </p:nvPr>
        </p:nvSpPr>
        <p:spPr>
          <a:xfrm>
            <a:off x="4520973" y="1344698"/>
            <a:ext cx="4366717" cy="171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800" dirty="0">
                <a:latin typeface="Impact" panose="020B0806030902050204" pitchFamily="34" charset="0"/>
              </a:rPr>
              <a:t>К реализации</a:t>
            </a:r>
            <a:endParaRPr sz="4800" dirty="0">
              <a:latin typeface="Impact" panose="020B0806030902050204" pitchFamily="34" charset="0"/>
            </a:endParaRPr>
          </a:p>
        </p:txBody>
      </p:sp>
      <p:sp>
        <p:nvSpPr>
          <p:cNvPr id="291" name="Google Shape;291;p33"/>
          <p:cNvSpPr txBox="1">
            <a:spLocks noGrp="1"/>
          </p:cNvSpPr>
          <p:nvPr>
            <p:ph type="subTitle" idx="1"/>
          </p:nvPr>
        </p:nvSpPr>
        <p:spPr>
          <a:xfrm>
            <a:off x="1639200" y="3082475"/>
            <a:ext cx="5865600" cy="6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Поверьте.. Вам понравится</a:t>
            </a:r>
            <a:endParaRPr dirty="0"/>
          </a:p>
        </p:txBody>
      </p:sp>
      <p:sp>
        <p:nvSpPr>
          <p:cNvPr id="292" name="Google Shape;292;p33"/>
          <p:cNvSpPr/>
          <p:nvPr/>
        </p:nvSpPr>
        <p:spPr>
          <a:xfrm>
            <a:off x="1631950" y="1805087"/>
            <a:ext cx="2874818" cy="836476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b="0" i="0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Прис</a:t>
            </a:r>
            <a:r>
              <a:rPr lang="ru-RU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ту</a:t>
            </a:r>
            <a:r>
              <a:rPr lang="ru-RU" b="0" i="0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пим</a:t>
            </a:r>
            <a:endParaRPr b="0" i="0" dirty="0"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Archivo Black"/>
            </a:endParaRPr>
          </a:p>
        </p:txBody>
      </p:sp>
      <p:sp>
        <p:nvSpPr>
          <p:cNvPr id="293" name="Google Shape;293;p33"/>
          <p:cNvSpPr/>
          <p:nvPr/>
        </p:nvSpPr>
        <p:spPr>
          <a:xfrm>
            <a:off x="1940975" y="435052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3"/>
          <p:cNvSpPr/>
          <p:nvPr/>
        </p:nvSpPr>
        <p:spPr>
          <a:xfrm>
            <a:off x="7362300" y="427926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33"/>
          <p:cNvSpPr/>
          <p:nvPr/>
        </p:nvSpPr>
        <p:spPr>
          <a:xfrm>
            <a:off x="5997325" y="2769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3"/>
          <p:cNvSpPr/>
          <p:nvPr/>
        </p:nvSpPr>
        <p:spPr>
          <a:xfrm>
            <a:off x="1083950" y="196532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3"/>
          <p:cNvSpPr/>
          <p:nvPr/>
        </p:nvSpPr>
        <p:spPr>
          <a:xfrm>
            <a:off x="973450" y="20571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3"/>
          <p:cNvSpPr txBox="1"/>
          <p:nvPr/>
        </p:nvSpPr>
        <p:spPr>
          <a:xfrm rot="-5400000">
            <a:off x="-1513500" y="2378325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Impact" panose="020B0806030902050204" pitchFamily="34" charset="0"/>
                <a:ea typeface="Source Sans Pro"/>
                <a:cs typeface="Source Sans Pro"/>
                <a:sym typeface="Source Sans Pro"/>
              </a:rPr>
              <a:t>Crypto</a:t>
            </a:r>
            <a:endParaRPr sz="1600" dirty="0">
              <a:solidFill>
                <a:schemeClr val="dk1"/>
              </a:solidFill>
              <a:latin typeface="Impact" panose="020B0806030902050204" pitchFamily="3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00" name="Google Shape;300;p33"/>
          <p:cNvSpPr txBox="1"/>
          <p:nvPr/>
        </p:nvSpPr>
        <p:spPr>
          <a:xfrm rot="5400000">
            <a:off x="6590450" y="2378250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Impact" panose="020B0806030902050204" pitchFamily="34" charset="0"/>
                <a:ea typeface="Source Sans Pro"/>
                <a:cs typeface="Source Sans Pro"/>
                <a:sym typeface="Source Sans Pro"/>
              </a:rPr>
              <a:t>Yandex Coin</a:t>
            </a:r>
            <a:endParaRPr sz="1600" dirty="0">
              <a:solidFill>
                <a:schemeClr val="dk1"/>
              </a:solidFill>
              <a:latin typeface="Impact" panose="020B0806030902050204" pitchFamily="34" charset="0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0">
          <a:extLst>
            <a:ext uri="{FF2B5EF4-FFF2-40B4-BE49-F238E27FC236}">
              <a16:creationId xmlns:a16="http://schemas.microsoft.com/office/drawing/2014/main" id="{89785480-2AD4-0B98-0396-312736A36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58">
            <a:extLst>
              <a:ext uri="{FF2B5EF4-FFF2-40B4-BE49-F238E27FC236}">
                <a16:creationId xmlns:a16="http://schemas.microsoft.com/office/drawing/2014/main" id="{DB4D97E7-FB53-8E33-B063-444DEBB93A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40100" y="394300"/>
            <a:ext cx="59883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Реализации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892" name="Google Shape;892;p58">
            <a:extLst>
              <a:ext uri="{FF2B5EF4-FFF2-40B4-BE49-F238E27FC236}">
                <a16:creationId xmlns:a16="http://schemas.microsoft.com/office/drawing/2014/main" id="{21315C90-C4F0-E3B0-F8C3-7FB759BAA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852000" cy="34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lt1"/>
                </a:solidFill>
                <a:latin typeface="Impact" panose="020B0806030902050204" pitchFamily="34" charset="0"/>
              </a:rPr>
              <a:t>Кратко</a:t>
            </a:r>
            <a:r>
              <a:rPr lang="en-US" sz="2000" dirty="0">
                <a:solidFill>
                  <a:schemeClr val="lt1"/>
                </a:solidFill>
                <a:latin typeface="Impact" panose="020B0806030902050204" pitchFamily="34" charset="0"/>
              </a:rPr>
              <a:t>:</a:t>
            </a:r>
            <a:endParaRPr lang="ru-RU" sz="2000" dirty="0">
              <a:solidFill>
                <a:schemeClr val="lt1"/>
              </a:solidFill>
              <a:latin typeface="Impact" panose="020B080603090205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dirty="0">
                <a:solidFill>
                  <a:schemeClr val="lt2"/>
                </a:solidFill>
              </a:rPr>
              <a:t>-3×5 слоты с комбинациями, модификаторами символов и талисманами 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lt2"/>
                </a:solidFill>
              </a:rPr>
              <a:t>-Раунды с долгом: выплата переводит на следующий уровень, провал — конец игры.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lt2"/>
                </a:solidFill>
              </a:rPr>
              <a:t>-Магазин талисманов за билеты; </a:t>
            </a:r>
            <a:r>
              <a:rPr lang="ru-RU" sz="1400" dirty="0" err="1">
                <a:solidFill>
                  <a:schemeClr val="lt2"/>
                </a:solidFill>
              </a:rPr>
              <a:t>автосейв</a:t>
            </a:r>
            <a:r>
              <a:rPr lang="ru-RU" sz="1400" dirty="0">
                <a:solidFill>
                  <a:schemeClr val="lt2"/>
                </a:solidFill>
              </a:rPr>
              <a:t> после каждого спина в `Data/</a:t>
            </a:r>
            <a:r>
              <a:rPr lang="ru-RU" sz="1400" dirty="0" err="1">
                <a:solidFill>
                  <a:schemeClr val="lt2"/>
                </a:solidFill>
              </a:rPr>
              <a:t>saves</a:t>
            </a:r>
            <a:r>
              <a:rPr lang="ru-RU" sz="1400" dirty="0">
                <a:solidFill>
                  <a:schemeClr val="lt2"/>
                </a:solidFill>
              </a:rPr>
              <a:t>/</a:t>
            </a:r>
            <a:r>
              <a:rPr lang="ru-RU" sz="1400" dirty="0" err="1">
                <a:solidFill>
                  <a:schemeClr val="lt2"/>
                </a:solidFill>
              </a:rPr>
              <a:t>game.json</a:t>
            </a:r>
            <a:r>
              <a:rPr lang="ru-RU" sz="1400" dirty="0">
                <a:solidFill>
                  <a:schemeClr val="lt2"/>
                </a:solidFill>
              </a:rPr>
              <a:t>`; при входе — </a:t>
            </a:r>
            <a:r>
              <a:rPr lang="ru-RU" sz="1400" dirty="0" err="1">
                <a:solidFill>
                  <a:schemeClr val="lt2"/>
                </a:solidFill>
              </a:rPr>
              <a:t>Continue</a:t>
            </a:r>
            <a:r>
              <a:rPr lang="ru-RU" sz="1400" dirty="0">
                <a:solidFill>
                  <a:schemeClr val="lt2"/>
                </a:solidFill>
              </a:rPr>
              <a:t>/New.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lt2"/>
                </a:solidFill>
              </a:rPr>
              <a:t>-Ваша статистика доступна прямо в меню по клавише </a:t>
            </a:r>
            <a:r>
              <a:rPr lang="en-US" sz="1400" dirty="0">
                <a:solidFill>
                  <a:schemeClr val="lt2"/>
                </a:solidFill>
              </a:rPr>
              <a:t>Stats</a:t>
            </a:r>
            <a:r>
              <a:rPr lang="ru-RU" sz="1400" dirty="0">
                <a:solidFill>
                  <a:schemeClr val="lt2"/>
                </a:solidFill>
              </a:rPr>
              <a:t>.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lt2"/>
                </a:solidFill>
              </a:rPr>
              <a:t>-Локализация была выбрана английская</a:t>
            </a:r>
            <a:r>
              <a:rPr lang="en-US" sz="1400" dirty="0">
                <a:solidFill>
                  <a:schemeClr val="lt2"/>
                </a:solidFill>
              </a:rPr>
              <a:t>, </a:t>
            </a:r>
            <a:r>
              <a:rPr lang="ru-RU" sz="1400" dirty="0">
                <a:solidFill>
                  <a:schemeClr val="lt2"/>
                </a:solidFill>
              </a:rPr>
              <a:t>это придает эффект игре и возможность выйти на мировой рынок</a:t>
            </a:r>
          </a:p>
          <a:p>
            <a:pPr marL="0" indent="0">
              <a:buNone/>
            </a:pPr>
            <a:endParaRPr lang="ru-RU" dirty="0">
              <a:solidFill>
                <a:schemeClr val="l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lt2"/>
              </a:solidFill>
            </a:endParaRPr>
          </a:p>
        </p:txBody>
      </p:sp>
      <p:sp>
        <p:nvSpPr>
          <p:cNvPr id="893" name="Google Shape;893;p58">
            <a:extLst>
              <a:ext uri="{FF2B5EF4-FFF2-40B4-BE49-F238E27FC236}">
                <a16:creationId xmlns:a16="http://schemas.microsoft.com/office/drawing/2014/main" id="{386383D8-D1C9-AE4A-BBA3-DCD1F2180D10}"/>
              </a:ext>
            </a:extLst>
          </p:cNvPr>
          <p:cNvSpPr/>
          <p:nvPr/>
        </p:nvSpPr>
        <p:spPr>
          <a:xfrm>
            <a:off x="4440382" y="538435"/>
            <a:ext cx="1794163" cy="28153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dirty="0">
                <a:ln w="19050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описание</a:t>
            </a:r>
            <a:endParaRPr lang="en-US" b="0" i="0" dirty="0"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Archivo Black"/>
            </a:endParaRPr>
          </a:p>
        </p:txBody>
      </p:sp>
      <p:sp>
        <p:nvSpPr>
          <p:cNvPr id="894" name="Google Shape;894;p58">
            <a:extLst>
              <a:ext uri="{FF2B5EF4-FFF2-40B4-BE49-F238E27FC236}">
                <a16:creationId xmlns:a16="http://schemas.microsoft.com/office/drawing/2014/main" id="{1767F330-347E-87C3-8A37-9D4DB1C6165C}"/>
              </a:ext>
            </a:extLst>
          </p:cNvPr>
          <p:cNvSpPr/>
          <p:nvPr/>
        </p:nvSpPr>
        <p:spPr>
          <a:xfrm>
            <a:off x="1693875" y="435052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58">
            <a:extLst>
              <a:ext uri="{FF2B5EF4-FFF2-40B4-BE49-F238E27FC236}">
                <a16:creationId xmlns:a16="http://schemas.microsoft.com/office/drawing/2014/main" id="{40A92C5D-D9E3-FD3A-1EDB-8128DC162EDF}"/>
              </a:ext>
            </a:extLst>
          </p:cNvPr>
          <p:cNvSpPr/>
          <p:nvPr/>
        </p:nvSpPr>
        <p:spPr>
          <a:xfrm>
            <a:off x="5879863" y="318126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58">
            <a:extLst>
              <a:ext uri="{FF2B5EF4-FFF2-40B4-BE49-F238E27FC236}">
                <a16:creationId xmlns:a16="http://schemas.microsoft.com/office/drawing/2014/main" id="{9EB186C2-38FC-8069-ED73-D0B0447E4A79}"/>
              </a:ext>
            </a:extLst>
          </p:cNvPr>
          <p:cNvSpPr/>
          <p:nvPr/>
        </p:nvSpPr>
        <p:spPr>
          <a:xfrm>
            <a:off x="1770875" y="2769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58">
            <a:extLst>
              <a:ext uri="{FF2B5EF4-FFF2-40B4-BE49-F238E27FC236}">
                <a16:creationId xmlns:a16="http://schemas.microsoft.com/office/drawing/2014/main" id="{5A358D67-0A29-DB68-D7AA-B5675BA003F0}"/>
              </a:ext>
            </a:extLst>
          </p:cNvPr>
          <p:cNvSpPr/>
          <p:nvPr/>
        </p:nvSpPr>
        <p:spPr>
          <a:xfrm>
            <a:off x="8170550" y="191562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3" name="Рисунок 2" descr="Изображение выглядит как текст, снимок экрана, Шрифт, Графика">
            <a:extLst>
              <a:ext uri="{FF2B5EF4-FFF2-40B4-BE49-F238E27FC236}">
                <a16:creationId xmlns:a16="http://schemas.microsoft.com/office/drawing/2014/main" id="{65B464B0-AED6-F4AE-8A2E-7DB8D5D4245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24871" t="9494" r="24028" b="-757"/>
          <a:stretch>
            <a:fillRect/>
          </a:stretch>
        </p:blipFill>
        <p:spPr>
          <a:xfrm>
            <a:off x="4655127" y="964100"/>
            <a:ext cx="4107873" cy="4125085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нимок экрана, Красочност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DF53F03-A6DE-830B-5657-F433FC43AA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27" y="964100"/>
            <a:ext cx="1579418" cy="1006749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8CE4AD-CBC4-30FC-0B66-8D68C87A1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5127" y="3560618"/>
            <a:ext cx="2313431" cy="1489559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FA205BD-76B2-BB13-4651-32D2FE5DDE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1235" y="2158041"/>
            <a:ext cx="1392765" cy="2892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922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>
            <a:spLocks noGrp="1"/>
          </p:cNvSpPr>
          <p:nvPr>
            <p:ph type="title" idx="6"/>
          </p:nvPr>
        </p:nvSpPr>
        <p:spPr>
          <a:xfrm>
            <a:off x="4422822" y="394350"/>
            <a:ext cx="4005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Технологии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383" name="Google Shape;383;p37"/>
          <p:cNvSpPr txBox="1">
            <a:spLocks noGrp="1"/>
          </p:cNvSpPr>
          <p:nvPr>
            <p:ph type="title"/>
          </p:nvPr>
        </p:nvSpPr>
        <p:spPr>
          <a:xfrm>
            <a:off x="720000" y="3161570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Python</a:t>
            </a:r>
            <a:endParaRPr dirty="0"/>
          </a:p>
        </p:txBody>
      </p:sp>
      <p:sp>
        <p:nvSpPr>
          <p:cNvPr id="384" name="Google Shape;384;p37"/>
          <p:cNvSpPr txBox="1">
            <a:spLocks noGrp="1"/>
          </p:cNvSpPr>
          <p:nvPr>
            <p:ph type="subTitle" idx="1"/>
          </p:nvPr>
        </p:nvSpPr>
        <p:spPr>
          <a:xfrm>
            <a:off x="720000" y="3675060"/>
            <a:ext cx="2336400" cy="9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/>
              <a:t>Python — язык, который старается быть </a:t>
            </a:r>
            <a:r>
              <a:rPr lang="ru-RU" b="1" dirty="0"/>
              <a:t>понятным человеку</a:t>
            </a:r>
            <a:r>
              <a:rPr lang="ru-RU" dirty="0"/>
              <a:t>, а не только машине.</a:t>
            </a:r>
            <a:endParaRPr dirty="0"/>
          </a:p>
        </p:txBody>
      </p:sp>
      <p:sp>
        <p:nvSpPr>
          <p:cNvPr id="385" name="Google Shape;385;p37"/>
          <p:cNvSpPr txBox="1">
            <a:spLocks noGrp="1"/>
          </p:cNvSpPr>
          <p:nvPr>
            <p:ph type="title" idx="2"/>
          </p:nvPr>
        </p:nvSpPr>
        <p:spPr>
          <a:xfrm>
            <a:off x="3403800" y="3161570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Arcade</a:t>
            </a:r>
            <a:endParaRPr dirty="0"/>
          </a:p>
        </p:txBody>
      </p:sp>
      <p:sp>
        <p:nvSpPr>
          <p:cNvPr id="386" name="Google Shape;386;p37"/>
          <p:cNvSpPr txBox="1">
            <a:spLocks noGrp="1"/>
          </p:cNvSpPr>
          <p:nvPr>
            <p:ph type="subTitle" idx="3"/>
          </p:nvPr>
        </p:nvSpPr>
        <p:spPr>
          <a:xfrm>
            <a:off x="3403800" y="3675060"/>
            <a:ext cx="2336400" cy="9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b="1" dirty="0" err="1"/>
              <a:t>Arcade</a:t>
            </a:r>
            <a:r>
              <a:rPr lang="ru-RU" dirty="0"/>
              <a:t> — это библиотека для Python, предназначенная для создания </a:t>
            </a:r>
            <a:r>
              <a:rPr lang="ru-RU" b="1" dirty="0"/>
              <a:t>2D-игр</a:t>
            </a:r>
            <a:r>
              <a:rPr lang="ru-RU" dirty="0"/>
              <a:t>.</a:t>
            </a:r>
            <a:endParaRPr dirty="0"/>
          </a:p>
        </p:txBody>
      </p:sp>
      <p:sp>
        <p:nvSpPr>
          <p:cNvPr id="387" name="Google Shape;387;p37"/>
          <p:cNvSpPr txBox="1">
            <a:spLocks noGrp="1"/>
          </p:cNvSpPr>
          <p:nvPr>
            <p:ph type="title" idx="4"/>
          </p:nvPr>
        </p:nvSpPr>
        <p:spPr>
          <a:xfrm>
            <a:off x="6087600" y="3161570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Json</a:t>
            </a:r>
            <a:endParaRPr dirty="0"/>
          </a:p>
        </p:txBody>
      </p:sp>
      <p:sp>
        <p:nvSpPr>
          <p:cNvPr id="388" name="Google Shape;388;p37"/>
          <p:cNvSpPr txBox="1">
            <a:spLocks noGrp="1"/>
          </p:cNvSpPr>
          <p:nvPr>
            <p:ph type="subTitle" idx="5"/>
          </p:nvPr>
        </p:nvSpPr>
        <p:spPr>
          <a:xfrm>
            <a:off x="6087600" y="3675060"/>
            <a:ext cx="2336400" cy="9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b="1" dirty="0"/>
              <a:t>JSON</a:t>
            </a:r>
            <a:r>
              <a:rPr lang="ru-RU" dirty="0"/>
              <a:t> — это простой текстовый формат хранения и передачи данных.</a:t>
            </a:r>
            <a:endParaRPr dirty="0"/>
          </a:p>
        </p:txBody>
      </p:sp>
      <p:sp>
        <p:nvSpPr>
          <p:cNvPr id="389" name="Google Shape;389;p37"/>
          <p:cNvSpPr/>
          <p:nvPr/>
        </p:nvSpPr>
        <p:spPr>
          <a:xfrm>
            <a:off x="3616336" y="511350"/>
            <a:ext cx="2723650" cy="368513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b="0" i="0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Используемые</a:t>
            </a:r>
            <a:endParaRPr b="0" i="0" dirty="0"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Archivo Black"/>
            </a:endParaRPr>
          </a:p>
        </p:txBody>
      </p:sp>
      <p:sp>
        <p:nvSpPr>
          <p:cNvPr id="390" name="Google Shape;390;p37"/>
          <p:cNvSpPr txBox="1"/>
          <p:nvPr/>
        </p:nvSpPr>
        <p:spPr>
          <a:xfrm rot="-5400000">
            <a:off x="-1513500" y="2378325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Impact" panose="020B0806030902050204" pitchFamily="34" charset="0"/>
                <a:ea typeface="Source Sans Pro"/>
                <a:cs typeface="Source Sans Pro"/>
                <a:sym typeface="Source Sans Pro"/>
              </a:rPr>
              <a:t>Оно не компилируется</a:t>
            </a:r>
            <a:endParaRPr sz="1600" dirty="0">
              <a:solidFill>
                <a:schemeClr val="dk1"/>
              </a:solidFill>
              <a:latin typeface="Impact" panose="020B0806030902050204" pitchFamily="3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91" name="Google Shape;391;p37"/>
          <p:cNvSpPr txBox="1"/>
          <p:nvPr/>
        </p:nvSpPr>
        <p:spPr>
          <a:xfrm rot="5400000">
            <a:off x="6590450" y="2378250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Impact" panose="020B0806030902050204" pitchFamily="34" charset="0"/>
                <a:ea typeface="Source Sans Pro"/>
                <a:cs typeface="Source Sans Pro"/>
                <a:sym typeface="Source Sans Pro"/>
              </a:rPr>
              <a:t>Оно работает</a:t>
            </a:r>
            <a:endParaRPr sz="1600" dirty="0">
              <a:solidFill>
                <a:schemeClr val="dk1"/>
              </a:solidFill>
              <a:latin typeface="Impact" panose="020B0806030902050204" pitchFamily="34" charset="0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392" name="Google Shape;392;p37"/>
          <p:cNvPicPr preferRelativeResize="0"/>
          <p:nvPr/>
        </p:nvPicPr>
        <p:blipFill>
          <a:blip r:embed="rId3">
            <a:alphaModFix/>
          </a:blip>
          <a:srcRect l="7326" r="7326"/>
          <a:stretch/>
        </p:blipFill>
        <p:spPr>
          <a:xfrm>
            <a:off x="949475" y="1452551"/>
            <a:ext cx="1877448" cy="164982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93" name="Google Shape;393;p37"/>
          <p:cNvPicPr preferRelativeResize="0"/>
          <p:nvPr/>
        </p:nvPicPr>
        <p:blipFill>
          <a:blip r:embed="rId4">
            <a:alphaModFix/>
          </a:blip>
          <a:srcRect t="6062" b="6062"/>
          <a:stretch/>
        </p:blipFill>
        <p:spPr>
          <a:xfrm>
            <a:off x="3633276" y="1452551"/>
            <a:ext cx="1877448" cy="164982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94" name="Google Shape;394;p37"/>
          <p:cNvPicPr preferRelativeResize="0"/>
          <p:nvPr/>
        </p:nvPicPr>
        <p:blipFill>
          <a:blip r:embed="rId5">
            <a:alphaModFix/>
          </a:blip>
          <a:srcRect t="6062" b="6062"/>
          <a:stretch/>
        </p:blipFill>
        <p:spPr>
          <a:xfrm>
            <a:off x="6317075" y="1452551"/>
            <a:ext cx="1877448" cy="164982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95" name="Google Shape;395;p37"/>
          <p:cNvSpPr/>
          <p:nvPr/>
        </p:nvSpPr>
        <p:spPr>
          <a:xfrm>
            <a:off x="2972100" y="1768000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7"/>
          <p:cNvSpPr/>
          <p:nvPr/>
        </p:nvSpPr>
        <p:spPr>
          <a:xfrm>
            <a:off x="1558950" y="22136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37"/>
          <p:cNvSpPr/>
          <p:nvPr/>
        </p:nvSpPr>
        <p:spPr>
          <a:xfrm>
            <a:off x="1144200" y="486652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37"/>
          <p:cNvSpPr/>
          <p:nvPr/>
        </p:nvSpPr>
        <p:spPr>
          <a:xfrm>
            <a:off x="5637850" y="4350525"/>
            <a:ext cx="516000" cy="516000"/>
          </a:xfrm>
          <a:prstGeom prst="star4">
            <a:avLst>
              <a:gd name="adj" fmla="val 1454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43"/>
          <p:cNvPicPr preferRelativeResize="0"/>
          <p:nvPr/>
        </p:nvPicPr>
        <p:blipFill rotWithShape="1">
          <a:blip r:embed="rId3">
            <a:alphaModFix/>
          </a:blip>
          <a:srcRect t="59736" r="74010" b="-336"/>
          <a:stretch/>
        </p:blipFill>
        <p:spPr>
          <a:xfrm>
            <a:off x="6535100" y="2962288"/>
            <a:ext cx="1877448" cy="164982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15" name="Google Shape;515;p43"/>
          <p:cNvPicPr preferRelativeResize="0"/>
          <p:nvPr/>
        </p:nvPicPr>
        <p:blipFill rotWithShape="1">
          <a:blip r:embed="rId3">
            <a:alphaModFix/>
          </a:blip>
          <a:srcRect l="73789" t="59399" r="220"/>
          <a:stretch/>
        </p:blipFill>
        <p:spPr>
          <a:xfrm>
            <a:off x="6535100" y="2289476"/>
            <a:ext cx="1877448" cy="164982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6" name="Google Shape;516;p43"/>
          <p:cNvSpPr txBox="1">
            <a:spLocks noGrp="1"/>
          </p:cNvSpPr>
          <p:nvPr>
            <p:ph type="title" idx="2"/>
          </p:nvPr>
        </p:nvSpPr>
        <p:spPr>
          <a:xfrm>
            <a:off x="3656648" y="334504"/>
            <a:ext cx="42225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По работе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4572001" y="489781"/>
            <a:ext cx="1466410" cy="33718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ru-RU" dirty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выводы</a:t>
            </a:r>
            <a:endParaRPr b="0" i="0" dirty="0"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Archivo Black"/>
            </a:endParaRPr>
          </a:p>
        </p:txBody>
      </p:sp>
      <p:sp>
        <p:nvSpPr>
          <p:cNvPr id="518" name="Google Shape;518;p43"/>
          <p:cNvSpPr txBox="1">
            <a:spLocks noGrp="1"/>
          </p:cNvSpPr>
          <p:nvPr>
            <p:ph type="title"/>
          </p:nvPr>
        </p:nvSpPr>
        <p:spPr>
          <a:xfrm>
            <a:off x="1472550" y="1051054"/>
            <a:ext cx="3883200" cy="38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Наш успех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519" name="Google Shape;519;p43"/>
          <p:cNvSpPr txBox="1">
            <a:spLocks noGrp="1"/>
          </p:cNvSpPr>
          <p:nvPr>
            <p:ph type="subTitle" idx="1"/>
          </p:nvPr>
        </p:nvSpPr>
        <p:spPr>
          <a:xfrm>
            <a:off x="497931" y="1420729"/>
            <a:ext cx="4505688" cy="84197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ru-RU" dirty="0"/>
              <a:t>В ходе работы был реализован полноценный</a:t>
            </a:r>
            <a:endParaRPr lang="en-US" dirty="0"/>
          </a:p>
          <a:p>
            <a:r>
              <a:rPr lang="ru-RU" dirty="0"/>
              <a:t>игровой проект с завершёнными игровыми</a:t>
            </a:r>
          </a:p>
          <a:p>
            <a:r>
              <a:rPr lang="ru-RU" dirty="0"/>
              <a:t>механиками.</a:t>
            </a:r>
          </a:p>
        </p:txBody>
      </p:sp>
      <p:sp>
        <p:nvSpPr>
          <p:cNvPr id="520" name="Google Shape;520;p43"/>
          <p:cNvSpPr txBox="1">
            <a:spLocks noGrp="1"/>
          </p:cNvSpPr>
          <p:nvPr>
            <p:ph type="title" idx="3"/>
          </p:nvPr>
        </p:nvSpPr>
        <p:spPr>
          <a:xfrm>
            <a:off x="1472550" y="2291926"/>
            <a:ext cx="3883200" cy="38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Прогресс в оптимизации игр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521" name="Google Shape;521;p43"/>
          <p:cNvSpPr txBox="1">
            <a:spLocks noGrp="1"/>
          </p:cNvSpPr>
          <p:nvPr>
            <p:ph type="subTitle" idx="4"/>
          </p:nvPr>
        </p:nvSpPr>
        <p:spPr>
          <a:xfrm>
            <a:off x="637309" y="2684425"/>
            <a:ext cx="4405933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Проект показал, что сложные игровые механики могут быть реализованы без высоких системных требований.</a:t>
            </a:r>
            <a:endParaRPr dirty="0"/>
          </a:p>
        </p:txBody>
      </p:sp>
      <p:sp>
        <p:nvSpPr>
          <p:cNvPr id="522" name="Google Shape;522;p43"/>
          <p:cNvSpPr txBox="1">
            <a:spLocks noGrp="1"/>
          </p:cNvSpPr>
          <p:nvPr>
            <p:ph type="title" idx="5"/>
          </p:nvPr>
        </p:nvSpPr>
        <p:spPr>
          <a:xfrm>
            <a:off x="1472550" y="3532797"/>
            <a:ext cx="3883200" cy="38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Архитектура игры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523" name="Google Shape;523;p43"/>
          <p:cNvSpPr txBox="1">
            <a:spLocks noGrp="1"/>
          </p:cNvSpPr>
          <p:nvPr>
            <p:ph type="subTitle" idx="6"/>
          </p:nvPr>
        </p:nvSpPr>
        <p:spPr>
          <a:xfrm>
            <a:off x="637309" y="3921350"/>
            <a:ext cx="4718441" cy="122215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Была реализована модульная архитектура, позволяющая легко расширять проект:</a:t>
            </a:r>
            <a:br>
              <a:rPr lang="ru-RU" dirty="0"/>
            </a:br>
            <a:r>
              <a:rPr lang="ru-RU" dirty="0"/>
              <a:t>добавлять новые чармы, паттерны и модификаторы без изменения базовой логики игры.</a:t>
            </a:r>
            <a:endParaRPr dirty="0"/>
          </a:p>
        </p:txBody>
      </p:sp>
      <p:pic>
        <p:nvPicPr>
          <p:cNvPr id="524" name="Google Shape;524;p43"/>
          <p:cNvPicPr preferRelativeResize="0"/>
          <p:nvPr/>
        </p:nvPicPr>
        <p:blipFill rotWithShape="1">
          <a:blip r:embed="rId3">
            <a:alphaModFix/>
          </a:blip>
          <a:srcRect l="13270" t="17714" r="60740" b="41684"/>
          <a:stretch/>
        </p:blipFill>
        <p:spPr>
          <a:xfrm>
            <a:off x="6535100" y="1254726"/>
            <a:ext cx="1877448" cy="1649824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25" name="Google Shape;525;p43"/>
          <p:cNvSpPr/>
          <p:nvPr/>
        </p:nvSpPr>
        <p:spPr>
          <a:xfrm>
            <a:off x="715450" y="1100129"/>
            <a:ext cx="757098" cy="2864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01.</a:t>
            </a:r>
          </a:p>
        </p:txBody>
      </p:sp>
      <p:sp>
        <p:nvSpPr>
          <p:cNvPr id="526" name="Google Shape;526;p43"/>
          <p:cNvSpPr/>
          <p:nvPr/>
        </p:nvSpPr>
        <p:spPr>
          <a:xfrm>
            <a:off x="715450" y="2341001"/>
            <a:ext cx="757098" cy="2864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02.</a:t>
            </a:r>
          </a:p>
        </p:txBody>
      </p:sp>
      <p:sp>
        <p:nvSpPr>
          <p:cNvPr id="527" name="Google Shape;527;p43"/>
          <p:cNvSpPr/>
          <p:nvPr/>
        </p:nvSpPr>
        <p:spPr>
          <a:xfrm>
            <a:off x="715450" y="3581872"/>
            <a:ext cx="757098" cy="2864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03.</a:t>
            </a:r>
          </a:p>
        </p:txBody>
      </p:sp>
      <p:cxnSp>
        <p:nvCxnSpPr>
          <p:cNvPr id="528" name="Google Shape;528;p43"/>
          <p:cNvCxnSpPr>
            <a:stCxn id="529" idx="3"/>
            <a:endCxn id="524" idx="1"/>
          </p:cNvCxnSpPr>
          <p:nvPr/>
        </p:nvCxnSpPr>
        <p:spPr>
          <a:xfrm>
            <a:off x="5557119" y="1251038"/>
            <a:ext cx="978000" cy="8286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0" name="Google Shape;530;p43"/>
          <p:cNvCxnSpPr>
            <a:stCxn id="531" idx="3"/>
            <a:endCxn id="515" idx="1"/>
          </p:cNvCxnSpPr>
          <p:nvPr/>
        </p:nvCxnSpPr>
        <p:spPr>
          <a:xfrm>
            <a:off x="5557119" y="2491902"/>
            <a:ext cx="978000" cy="622500"/>
          </a:xfrm>
          <a:prstGeom prst="bentConnector3">
            <a:avLst>
              <a:gd name="adj1" fmla="val 49999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2" name="Google Shape;532;p43"/>
          <p:cNvCxnSpPr>
            <a:stCxn id="533" idx="3"/>
          </p:cNvCxnSpPr>
          <p:nvPr/>
        </p:nvCxnSpPr>
        <p:spPr>
          <a:xfrm>
            <a:off x="5557119" y="3732793"/>
            <a:ext cx="947100" cy="483600"/>
          </a:xfrm>
          <a:prstGeom prst="bentConnector3">
            <a:avLst>
              <a:gd name="adj1" fmla="val 51165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3" name="Google Shape;533;p43"/>
          <p:cNvSpPr/>
          <p:nvPr/>
        </p:nvSpPr>
        <p:spPr>
          <a:xfrm>
            <a:off x="5188119" y="3540493"/>
            <a:ext cx="369000" cy="3846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43"/>
          <p:cNvSpPr/>
          <p:nvPr/>
        </p:nvSpPr>
        <p:spPr>
          <a:xfrm>
            <a:off x="8557425" y="22894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43"/>
          <p:cNvSpPr/>
          <p:nvPr/>
        </p:nvSpPr>
        <p:spPr>
          <a:xfrm>
            <a:off x="1841038" y="20571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43"/>
          <p:cNvSpPr/>
          <p:nvPr/>
        </p:nvSpPr>
        <p:spPr>
          <a:xfrm>
            <a:off x="121309" y="427442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43"/>
          <p:cNvSpPr/>
          <p:nvPr/>
        </p:nvSpPr>
        <p:spPr>
          <a:xfrm>
            <a:off x="5188119" y="2299602"/>
            <a:ext cx="369000" cy="3846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43"/>
          <p:cNvSpPr/>
          <p:nvPr/>
        </p:nvSpPr>
        <p:spPr>
          <a:xfrm>
            <a:off x="5188119" y="1058738"/>
            <a:ext cx="369000" cy="384600"/>
          </a:xfrm>
          <a:prstGeom prst="star4">
            <a:avLst>
              <a:gd name="adj" fmla="val 125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7"/>
          <p:cNvSpPr/>
          <p:nvPr/>
        </p:nvSpPr>
        <p:spPr>
          <a:xfrm>
            <a:off x="3216025" y="1215850"/>
            <a:ext cx="2712000" cy="2712000"/>
          </a:xfrm>
          <a:prstGeom prst="star4">
            <a:avLst>
              <a:gd name="adj" fmla="val 25976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47"/>
          <p:cNvSpPr txBox="1">
            <a:spLocks noGrp="1"/>
          </p:cNvSpPr>
          <p:nvPr>
            <p:ph type="title"/>
          </p:nvPr>
        </p:nvSpPr>
        <p:spPr>
          <a:xfrm>
            <a:off x="3496200" y="2285475"/>
            <a:ext cx="2151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latin typeface="Impact" panose="020B0806030902050204" pitchFamily="34" charset="0"/>
              </a:rPr>
              <a:t>Планы на будущее</a:t>
            </a:r>
            <a:endParaRPr sz="2400" dirty="0">
              <a:latin typeface="Impact" panose="020B0806030902050204" pitchFamily="34" charset="0"/>
            </a:endParaRPr>
          </a:p>
        </p:txBody>
      </p:sp>
      <p:sp>
        <p:nvSpPr>
          <p:cNvPr id="626" name="Google Shape;626;p47"/>
          <p:cNvSpPr txBox="1"/>
          <p:nvPr/>
        </p:nvSpPr>
        <p:spPr>
          <a:xfrm>
            <a:off x="717119" y="942525"/>
            <a:ext cx="22473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1"/>
                </a:solidFill>
                <a:latin typeface="Impact" panose="020B0806030902050204" pitchFamily="34" charset="0"/>
                <a:ea typeface="Archivo Black"/>
                <a:cs typeface="Archivo Black"/>
                <a:sym typeface="Archivo Black"/>
              </a:rPr>
              <a:t>Цель</a:t>
            </a:r>
            <a:r>
              <a:rPr lang="en" sz="2000" dirty="0">
                <a:solidFill>
                  <a:schemeClr val="dk1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endParaRPr sz="2000" dirty="0">
              <a:solidFill>
                <a:schemeClr val="dk1"/>
              </a:solidFill>
              <a:latin typeface="Archivo Black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27" name="Google Shape;627;p47"/>
          <p:cNvSpPr txBox="1"/>
          <p:nvPr/>
        </p:nvSpPr>
        <p:spPr>
          <a:xfrm>
            <a:off x="717119" y="1244024"/>
            <a:ext cx="2247300" cy="841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Добавление игры в </a:t>
            </a:r>
            <a:r>
              <a:rPr lang="ru-RU" sz="1600" dirty="0" err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лаунчеры</a:t>
            </a:r>
            <a:r>
              <a:rPr lang="en-US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ru-RU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такие как </a:t>
            </a:r>
            <a:r>
              <a:rPr lang="en-US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VK Play</a:t>
            </a:r>
            <a:endParaRPr sz="16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28" name="Google Shape;628;p47"/>
          <p:cNvSpPr txBox="1"/>
          <p:nvPr/>
        </p:nvSpPr>
        <p:spPr>
          <a:xfrm>
            <a:off x="717119" y="3354075"/>
            <a:ext cx="22473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1"/>
                </a:solidFill>
                <a:latin typeface="Impact" panose="020B0806030902050204" pitchFamily="34" charset="0"/>
                <a:ea typeface="Archivo Black"/>
                <a:cs typeface="Archivo Black"/>
                <a:sym typeface="Archivo Black"/>
              </a:rPr>
              <a:t>Цель</a:t>
            </a:r>
            <a:endParaRPr sz="2000" dirty="0">
              <a:solidFill>
                <a:schemeClr val="dk1"/>
              </a:solidFill>
              <a:latin typeface="Impact" panose="020B0806030902050204" pitchFamily="3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29" name="Google Shape;629;p47"/>
          <p:cNvSpPr txBox="1"/>
          <p:nvPr/>
        </p:nvSpPr>
        <p:spPr>
          <a:xfrm>
            <a:off x="717119" y="3655575"/>
            <a:ext cx="2247300" cy="79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r"/>
            <a:r>
              <a:rPr lang="ru-RU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Перевод игры на другие языки</a:t>
            </a:r>
            <a:r>
              <a:rPr lang="en-US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ru-RU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например китайский</a:t>
            </a:r>
            <a:endParaRPr sz="16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0" name="Google Shape;630;p47"/>
          <p:cNvSpPr txBox="1"/>
          <p:nvPr/>
        </p:nvSpPr>
        <p:spPr>
          <a:xfrm>
            <a:off x="6179581" y="942525"/>
            <a:ext cx="22473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1"/>
                </a:solidFill>
                <a:latin typeface="Impact" panose="020B0806030902050204" pitchFamily="34" charset="0"/>
                <a:ea typeface="Archivo Black"/>
                <a:cs typeface="Archivo Black"/>
                <a:sym typeface="Archivo Black"/>
              </a:rPr>
              <a:t>Цель</a:t>
            </a:r>
            <a:endParaRPr sz="2000" dirty="0">
              <a:solidFill>
                <a:schemeClr val="dk1"/>
              </a:solidFill>
              <a:latin typeface="Impact" panose="020B0806030902050204" pitchFamily="3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31" name="Google Shape;631;p47"/>
          <p:cNvSpPr txBox="1"/>
          <p:nvPr/>
        </p:nvSpPr>
        <p:spPr>
          <a:xfrm>
            <a:off x="6179581" y="1244024"/>
            <a:ext cx="2247300" cy="778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Добавление новых механик</a:t>
            </a:r>
            <a:r>
              <a:rPr lang="en-US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ru-RU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таких как</a:t>
            </a:r>
            <a:r>
              <a:rPr lang="en-US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ru-RU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новые талисманы и </a:t>
            </a:r>
            <a:r>
              <a:rPr lang="ru-RU" sz="1600" dirty="0" err="1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т.д</a:t>
            </a:r>
            <a:endParaRPr sz="16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2" name="Google Shape;632;p47"/>
          <p:cNvSpPr txBox="1"/>
          <p:nvPr/>
        </p:nvSpPr>
        <p:spPr>
          <a:xfrm>
            <a:off x="6179581" y="3354075"/>
            <a:ext cx="2247300" cy="4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solidFill>
                  <a:schemeClr val="dk1"/>
                </a:solidFill>
                <a:latin typeface="Impact" panose="020B0806030902050204" pitchFamily="34" charset="0"/>
                <a:ea typeface="Archivo Black"/>
                <a:cs typeface="Archivo Black"/>
                <a:sym typeface="Archivo Black"/>
              </a:rPr>
              <a:t>Цель</a:t>
            </a:r>
            <a:endParaRPr sz="2000" dirty="0">
              <a:solidFill>
                <a:schemeClr val="dk1"/>
              </a:solidFill>
              <a:latin typeface="Impact" panose="020B0806030902050204" pitchFamily="3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633" name="Google Shape;633;p47"/>
          <p:cNvSpPr txBox="1"/>
          <p:nvPr/>
        </p:nvSpPr>
        <p:spPr>
          <a:xfrm>
            <a:off x="6179581" y="3655574"/>
            <a:ext cx="2247300" cy="79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Портирование игры на телефон и оптимизация игры.</a:t>
            </a:r>
            <a:endParaRPr sz="1600"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34" name="Google Shape;634;p47"/>
          <p:cNvSpPr/>
          <p:nvPr/>
        </p:nvSpPr>
        <p:spPr>
          <a:xfrm>
            <a:off x="2964419" y="965411"/>
            <a:ext cx="604325" cy="2864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01</a:t>
            </a:r>
          </a:p>
        </p:txBody>
      </p:sp>
      <p:sp>
        <p:nvSpPr>
          <p:cNvPr id="635" name="Google Shape;635;p47"/>
          <p:cNvSpPr/>
          <p:nvPr/>
        </p:nvSpPr>
        <p:spPr>
          <a:xfrm>
            <a:off x="5595983" y="963198"/>
            <a:ext cx="601908" cy="2864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02</a:t>
            </a:r>
          </a:p>
        </p:txBody>
      </p:sp>
      <p:sp>
        <p:nvSpPr>
          <p:cNvPr id="636" name="Google Shape;636;p47"/>
          <p:cNvSpPr/>
          <p:nvPr/>
        </p:nvSpPr>
        <p:spPr>
          <a:xfrm>
            <a:off x="2964293" y="3378210"/>
            <a:ext cx="604808" cy="2864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03</a:t>
            </a:r>
          </a:p>
        </p:txBody>
      </p:sp>
      <p:sp>
        <p:nvSpPr>
          <p:cNvPr id="637" name="Google Shape;637;p47"/>
          <p:cNvSpPr/>
          <p:nvPr/>
        </p:nvSpPr>
        <p:spPr>
          <a:xfrm>
            <a:off x="5595983" y="3373601"/>
            <a:ext cx="613994" cy="28645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19050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04</a:t>
            </a:r>
          </a:p>
        </p:txBody>
      </p:sp>
      <p:sp>
        <p:nvSpPr>
          <p:cNvPr id="638" name="Google Shape;638;p47"/>
          <p:cNvSpPr/>
          <p:nvPr/>
        </p:nvSpPr>
        <p:spPr>
          <a:xfrm>
            <a:off x="4314000" y="4286300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47"/>
          <p:cNvSpPr/>
          <p:nvPr/>
        </p:nvSpPr>
        <p:spPr>
          <a:xfrm>
            <a:off x="7419163" y="20571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47"/>
          <p:cNvSpPr/>
          <p:nvPr/>
        </p:nvSpPr>
        <p:spPr>
          <a:xfrm>
            <a:off x="863625" y="2769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47"/>
          <p:cNvSpPr txBox="1"/>
          <p:nvPr/>
        </p:nvSpPr>
        <p:spPr>
          <a:xfrm rot="-5400000">
            <a:off x="-1513500" y="2378325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Impact" panose="020B0806030902050204" pitchFamily="34" charset="0"/>
                <a:ea typeface="Source Sans Pro"/>
                <a:cs typeface="Source Sans Pro"/>
                <a:sym typeface="Source Sans Pro"/>
              </a:rPr>
              <a:t>Мы это сделаем</a:t>
            </a:r>
            <a:endParaRPr sz="1600" dirty="0">
              <a:solidFill>
                <a:schemeClr val="dk1"/>
              </a:solidFill>
              <a:latin typeface="Impact" panose="020B0806030902050204" pitchFamily="3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642" name="Google Shape;642;p47"/>
          <p:cNvSpPr txBox="1"/>
          <p:nvPr/>
        </p:nvSpPr>
        <p:spPr>
          <a:xfrm rot="5400000">
            <a:off x="6590450" y="2378250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Impact" panose="020B0806030902050204" pitchFamily="34" charset="0"/>
                <a:ea typeface="Source Sans Pro"/>
                <a:cs typeface="Source Sans Pro"/>
                <a:sym typeface="Source Sans Pro"/>
              </a:rPr>
              <a:t>Главное верить</a:t>
            </a:r>
            <a:endParaRPr sz="1600" dirty="0">
              <a:solidFill>
                <a:schemeClr val="dk1"/>
              </a:solidFill>
              <a:latin typeface="Impact" panose="020B0806030902050204" pitchFamily="34" charset="0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0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Impact" panose="020B0806030902050204" pitchFamily="34" charset="0"/>
              </a:rPr>
              <a:t>Демонстрация работы</a:t>
            </a:r>
            <a:endParaRPr dirty="0">
              <a:latin typeface="Impact" panose="020B0806030902050204" pitchFamily="34" charset="0"/>
            </a:endParaRPr>
          </a:p>
        </p:txBody>
      </p:sp>
      <p:sp>
        <p:nvSpPr>
          <p:cNvPr id="443" name="Google Shape;443;p40"/>
          <p:cNvSpPr/>
          <p:nvPr/>
        </p:nvSpPr>
        <p:spPr>
          <a:xfrm>
            <a:off x="7600725" y="471132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40"/>
          <p:cNvSpPr/>
          <p:nvPr/>
        </p:nvSpPr>
        <p:spPr>
          <a:xfrm>
            <a:off x="65925" y="6454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40"/>
          <p:cNvSpPr txBox="1"/>
          <p:nvPr/>
        </p:nvSpPr>
        <p:spPr>
          <a:xfrm rot="-5400000">
            <a:off x="-1513500" y="2378325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Impact" panose="020B0806030902050204" pitchFamily="34" charset="0"/>
                <a:ea typeface="Source Sans Pro"/>
                <a:cs typeface="Source Sans Pro"/>
                <a:sym typeface="Source Sans Pro"/>
              </a:rPr>
              <a:t>Homyak</a:t>
            </a:r>
            <a:endParaRPr sz="1600" dirty="0">
              <a:solidFill>
                <a:schemeClr val="dk1"/>
              </a:solidFill>
              <a:latin typeface="Impact" panose="020B0806030902050204" pitchFamily="34" charset="0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46" name="Google Shape;446;p40"/>
          <p:cNvSpPr txBox="1"/>
          <p:nvPr/>
        </p:nvSpPr>
        <p:spPr>
          <a:xfrm rot="5400000">
            <a:off x="6590450" y="2378250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Impact" panose="020B0806030902050204" pitchFamily="34" charset="0"/>
                <a:ea typeface="Source Sans Pro"/>
                <a:cs typeface="Source Sans Pro"/>
                <a:sym typeface="Source Sans Pro"/>
              </a:rPr>
              <a:t>Crypto</a:t>
            </a:r>
            <a:endParaRPr sz="1600" dirty="0">
              <a:solidFill>
                <a:schemeClr val="dk1"/>
              </a:solidFill>
              <a:latin typeface="Impact" panose="020B0806030902050204" pitchFamily="34" charset="0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9"/>
          <p:cNvPicPr preferRelativeResize="0"/>
          <p:nvPr/>
        </p:nvPicPr>
        <p:blipFill rotWithShape="1">
          <a:blip r:embed="rId3">
            <a:alphaModFix/>
          </a:blip>
          <a:srcRect t="7188" r="15447" b="56833"/>
          <a:stretch/>
        </p:blipFill>
        <p:spPr>
          <a:xfrm>
            <a:off x="706375" y="2731932"/>
            <a:ext cx="7731298" cy="185055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30" name="Google Shape;430;p39"/>
          <p:cNvSpPr txBox="1">
            <a:spLocks noGrp="1"/>
          </p:cNvSpPr>
          <p:nvPr>
            <p:ph type="title"/>
          </p:nvPr>
        </p:nvSpPr>
        <p:spPr>
          <a:xfrm>
            <a:off x="1443163" y="1926397"/>
            <a:ext cx="62577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Homyak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431" name="Google Shape;431;p39"/>
          <p:cNvSpPr txBox="1">
            <a:spLocks noGrp="1"/>
          </p:cNvSpPr>
          <p:nvPr>
            <p:ph type="subTitle" idx="1"/>
          </p:nvPr>
        </p:nvSpPr>
        <p:spPr>
          <a:xfrm>
            <a:off x="1443150" y="475467"/>
            <a:ext cx="6257700" cy="14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dirty="0"/>
              <a:t>«Казино улыбается, как щедрый бог, но кормит лишь иллюзиями: всё, что оно даёт — это время, надежду и путь обратно с пустыми руками».</a:t>
            </a:r>
            <a:endParaRPr dirty="0"/>
          </a:p>
        </p:txBody>
      </p:sp>
      <p:sp>
        <p:nvSpPr>
          <p:cNvPr id="432" name="Google Shape;432;p39"/>
          <p:cNvSpPr/>
          <p:nvPr/>
        </p:nvSpPr>
        <p:spPr>
          <a:xfrm>
            <a:off x="3719591" y="2014492"/>
            <a:ext cx="2105607" cy="35571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 dirty="0"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— </a:t>
            </a:r>
            <a:r>
              <a:rPr lang="en-US" dirty="0">
                <a:ln w="19050" cap="flat" cmpd="sng">
                  <a:solidFill>
                    <a:schemeClr val="accent4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Archivo Black"/>
              </a:rPr>
              <a:t>Crypto</a:t>
            </a:r>
            <a:endParaRPr b="0" i="0" dirty="0"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Archivo Black"/>
            </a:endParaRPr>
          </a:p>
        </p:txBody>
      </p:sp>
      <p:sp>
        <p:nvSpPr>
          <p:cNvPr id="433" name="Google Shape;433;p39"/>
          <p:cNvSpPr/>
          <p:nvPr/>
        </p:nvSpPr>
        <p:spPr>
          <a:xfrm>
            <a:off x="8170600" y="2769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9"/>
          <p:cNvSpPr/>
          <p:nvPr/>
        </p:nvSpPr>
        <p:spPr>
          <a:xfrm>
            <a:off x="1074338" y="167951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39"/>
          <p:cNvSpPr txBox="1"/>
          <p:nvPr/>
        </p:nvSpPr>
        <p:spPr>
          <a:xfrm rot="-5400000">
            <a:off x="-1513500" y="2378325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36" name="Google Shape;436;p39"/>
          <p:cNvSpPr txBox="1"/>
          <p:nvPr/>
        </p:nvSpPr>
        <p:spPr>
          <a:xfrm rot="5400000">
            <a:off x="6590450" y="2378250"/>
            <a:ext cx="4063200" cy="3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37" name="Google Shape;437;p39"/>
          <p:cNvSpPr/>
          <p:nvPr/>
        </p:nvSpPr>
        <p:spPr>
          <a:xfrm>
            <a:off x="457450" y="2769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56"/>
          <p:cNvSpPr txBox="1">
            <a:spLocks noGrp="1"/>
          </p:cNvSpPr>
          <p:nvPr>
            <p:ph type="subTitle" idx="1"/>
          </p:nvPr>
        </p:nvSpPr>
        <p:spPr>
          <a:xfrm>
            <a:off x="2425075" y="1564650"/>
            <a:ext cx="4293900" cy="119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Задавайте вопросы!</a:t>
            </a:r>
            <a:br>
              <a:rPr lang="ru-RU" dirty="0">
                <a:solidFill>
                  <a:schemeClr val="dk1"/>
                </a:solidFill>
              </a:rPr>
            </a:br>
            <a:r>
              <a:rPr lang="ru-RU" dirty="0">
                <a:solidFill>
                  <a:schemeClr val="dk1"/>
                </a:solidFill>
              </a:rPr>
              <a:t>Сделано с ❤️</a:t>
            </a:r>
            <a:r>
              <a:rPr lang="en-US" dirty="0">
                <a:solidFill>
                  <a:schemeClr val="dk1"/>
                </a:solidFill>
              </a:rPr>
              <a:t>by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852" name="Google Shape;852;p56"/>
          <p:cNvSpPr txBox="1">
            <a:spLocks noGrp="1"/>
          </p:cNvSpPr>
          <p:nvPr>
            <p:ph type="ctrTitle"/>
          </p:nvPr>
        </p:nvSpPr>
        <p:spPr>
          <a:xfrm>
            <a:off x="1265975" y="669825"/>
            <a:ext cx="6901280" cy="99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</a:t>
            </a: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3" name="Google Shape;853;p56"/>
          <p:cNvSpPr txBox="1"/>
          <p:nvPr/>
        </p:nvSpPr>
        <p:spPr>
          <a:xfrm>
            <a:off x="1780325" y="4320969"/>
            <a:ext cx="5449125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</a:t>
            </a:r>
            <a:r>
              <a:rPr lang="ru-RU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а если серьезно</a:t>
            </a:r>
            <a:r>
              <a:rPr lang="en-US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ru-RU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проект делали Волков Егор</a:t>
            </a:r>
            <a:r>
              <a:rPr lang="en-US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, </a:t>
            </a:r>
            <a:r>
              <a:rPr lang="ru-RU" dirty="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Бойченко Матвей)</a:t>
            </a:r>
            <a:endParaRPr dirty="0">
              <a:solidFill>
                <a:schemeClr val="dk1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868" name="Google Shape;868;p56"/>
          <p:cNvSpPr/>
          <p:nvPr/>
        </p:nvSpPr>
        <p:spPr>
          <a:xfrm>
            <a:off x="7337938" y="4571942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56"/>
          <p:cNvSpPr/>
          <p:nvPr/>
        </p:nvSpPr>
        <p:spPr>
          <a:xfrm>
            <a:off x="7008688" y="20571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56"/>
          <p:cNvSpPr/>
          <p:nvPr/>
        </p:nvSpPr>
        <p:spPr>
          <a:xfrm>
            <a:off x="1780325" y="276975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56"/>
          <p:cNvSpPr/>
          <p:nvPr/>
        </p:nvSpPr>
        <p:spPr>
          <a:xfrm>
            <a:off x="7358175" y="1618588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872" name="Google Shape;872;p56"/>
          <p:cNvSpPr/>
          <p:nvPr/>
        </p:nvSpPr>
        <p:spPr>
          <a:xfrm>
            <a:off x="386188" y="4068363"/>
            <a:ext cx="658500" cy="658500"/>
          </a:xfrm>
          <a:prstGeom prst="flowChartSummingJunction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sp>
        <p:nvSpPr>
          <p:cNvPr id="873" name="Google Shape;873;p56"/>
          <p:cNvSpPr/>
          <p:nvPr/>
        </p:nvSpPr>
        <p:spPr>
          <a:xfrm>
            <a:off x="986500" y="2163600"/>
            <a:ext cx="516000" cy="516000"/>
          </a:xfrm>
          <a:prstGeom prst="star4">
            <a:avLst>
              <a:gd name="adj" fmla="val 14166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  <p:pic>
        <p:nvPicPr>
          <p:cNvPr id="5" name="Рисунок 4" descr="Изображение выглядит как Сирень, Пурпурный цвет, Фиолетовый, розов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042B519-B02A-5600-D279-8B3859C70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063" y="3005460"/>
            <a:ext cx="6049219" cy="118126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E02553-F5E9-20DA-9F61-721410197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400" y="2417310"/>
            <a:ext cx="1647960" cy="164796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F30F9C0-9D47-4374-6788-8802DE15D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3797" y="2461351"/>
            <a:ext cx="1615854" cy="161585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1BBE44-02A2-A1DC-AF4B-3F84856F3C09}"/>
              </a:ext>
            </a:extLst>
          </p:cNvPr>
          <p:cNvSpPr txBox="1"/>
          <p:nvPr/>
        </p:nvSpPr>
        <p:spPr>
          <a:xfrm>
            <a:off x="6457018" y="4068363"/>
            <a:ext cx="1647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Донат (картой)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D5A56C-6CD6-19A2-51C8-F72F09B1BAB5}"/>
              </a:ext>
            </a:extLst>
          </p:cNvPr>
          <p:cNvSpPr txBox="1"/>
          <p:nvPr/>
        </p:nvSpPr>
        <p:spPr>
          <a:xfrm>
            <a:off x="1415309" y="4068363"/>
            <a:ext cx="1647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ru-RU" dirty="0"/>
              <a:t>проекта</a:t>
            </a:r>
          </a:p>
        </p:txBody>
      </p:sp>
      <p:pic>
        <p:nvPicPr>
          <p:cNvPr id="13" name="Рисунок 12" descr="Изображение выглядит как игрушка, млекопитающее, текст, мультфильм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B822547-C190-70DE-5C1B-A6FD0E4B36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5745" y="2509579"/>
            <a:ext cx="2333538" cy="15556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 Ultimate Marketing Plan by Slidesgo">
  <a:themeElements>
    <a:clrScheme name="Simple Light">
      <a:dk1>
        <a:srgbClr val="10120F"/>
      </a:dk1>
      <a:lt1>
        <a:srgbClr val="DCB3F9"/>
      </a:lt1>
      <a:dk2>
        <a:srgbClr val="53327A"/>
      </a:dk2>
      <a:lt2>
        <a:srgbClr val="EA99FF"/>
      </a:lt2>
      <a:accent1>
        <a:srgbClr val="B98BF5"/>
      </a:accent1>
      <a:accent2>
        <a:srgbClr val="8572A3"/>
      </a:accent2>
      <a:accent3>
        <a:srgbClr val="FFFFFF"/>
      </a:accent3>
      <a:accent4>
        <a:srgbClr val="D393FF"/>
      </a:accent4>
      <a:accent5>
        <a:srgbClr val="FFFFFF"/>
      </a:accent5>
      <a:accent6>
        <a:srgbClr val="FFFFFF"/>
      </a:accent6>
      <a:hlink>
        <a:srgbClr val="10120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645</Words>
  <Application>Microsoft Office PowerPoint</Application>
  <PresentationFormat>Экран (16:9)</PresentationFormat>
  <Paragraphs>97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Arial</vt:lpstr>
      <vt:lpstr>Archivo Black</vt:lpstr>
      <vt:lpstr>Source Sans Pro</vt:lpstr>
      <vt:lpstr>Times New Roman</vt:lpstr>
      <vt:lpstr>Impact</vt:lpstr>
      <vt:lpstr>Roboto Condensed Light</vt:lpstr>
      <vt:lpstr>The Ultimate Marketing Plan by Slidesgo</vt:lpstr>
      <vt:lpstr>By Crypto Homyak Team</vt:lpstr>
      <vt:lpstr>COMPANY</vt:lpstr>
      <vt:lpstr>Презентация PowerPoint</vt:lpstr>
      <vt:lpstr>Рост цен на ПК</vt:lpstr>
      <vt:lpstr>К реализации</vt:lpstr>
      <vt:lpstr>Реализации</vt:lpstr>
      <vt:lpstr>Технологии</vt:lpstr>
      <vt:lpstr>По работе</vt:lpstr>
      <vt:lpstr>Планы на будущее</vt:lpstr>
      <vt:lpstr>Демонстрация работы</vt:lpstr>
      <vt:lpstr>Homyak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chepuxcat</dc:creator>
  <cp:lastModifiedBy>Egor Volkov</cp:lastModifiedBy>
  <cp:revision>6</cp:revision>
  <dcterms:modified xsi:type="dcterms:W3CDTF">2026-02-07T17:33:44Z</dcterms:modified>
</cp:coreProperties>
</file>